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4"/>
  </p:notesMasterIdLst>
  <p:sldIdLst>
    <p:sldId id="271" r:id="rId5"/>
    <p:sldId id="272" r:id="rId12"/>
    <p:sldId id="273" r:id="rId13"/>
    <p:sldId id="274" r:id="rId14"/>
    <p:sldId id="275" r:id="rId15"/>
    <p:sldId id="276" r:id="rId16"/>
    <p:sldId id="277" r:id="rId17"/>
    <p:sldId id="278" r:id="rId18"/>
    <p:sldId id="279" r:id="rId19"/>
    <p:sldId id="280" r:id="rId20"/>
    <p:sldId id="281" r:id="rId21"/>
    <p:sldId id="282" r:id="rId22"/>
    <p:sldId id="283" r:id="rId23"/>
    <p:sldId id="284" r:id="rId11"/>
    <p:sldId id="285" r:id="rId10"/>
    <p:sldId id="286" r:id="rId9"/>
    <p:sldId id="287" r:id="rId8"/>
    <p:sldId id="288" r:id="rId7"/>
    <p:sldId id="289" r:id="rId6"/>
  </p:sldIdLst>
  <p:sldSz cx="12192000" cy="6858000"/>
  <p:notesSz cx="6858000" cy="9144000"/>
  <p:defaultTextStyle>
    <a:defPPr>
      <a:defRPr lang="en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25" userDrawn="1">
          <p15:clr>
            <a:srgbClr val="A4A3A4"/>
          </p15:clr>
        </p15:guide>
        <p15:guide id="4" pos="1209" userDrawn="1">
          <p15:clr>
            <a:srgbClr val="A4A3A4"/>
          </p15:clr>
        </p15:guide>
        <p15:guide id="5" pos="2955" userDrawn="1">
          <p15:clr>
            <a:srgbClr val="A4A3A4"/>
          </p15:clr>
        </p15:guide>
        <p15:guide id="6" pos="2071" userDrawn="1">
          <p15:clr>
            <a:srgbClr val="A4A3A4"/>
          </p15:clr>
        </p15:guide>
        <p15:guide id="9" pos="3840" userDrawn="1">
          <p15:clr>
            <a:srgbClr val="A4A3A4"/>
          </p15:clr>
        </p15:guide>
        <p15:guide id="10" pos="4702" userDrawn="1">
          <p15:clr>
            <a:srgbClr val="A4A3A4"/>
          </p15:clr>
        </p15:guide>
        <p15:guide id="11" pos="5586" userDrawn="1">
          <p15:clr>
            <a:srgbClr val="A4A3A4"/>
          </p15:clr>
        </p15:guide>
        <p15:guide id="12" pos="7333" userDrawn="1">
          <p15:clr>
            <a:srgbClr val="A4A3A4"/>
          </p15:clr>
        </p15:guide>
        <p15:guide id="13" orient="horz" pos="3952" userDrawn="1">
          <p15:clr>
            <a:srgbClr val="A4A3A4"/>
          </p15:clr>
        </p15:guide>
        <p15:guide id="15" pos="6471" userDrawn="1">
          <p15:clr>
            <a:srgbClr val="A4A3A4"/>
          </p15:clr>
        </p15:guide>
        <p15:guide id="16" orient="horz" pos="91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Кутьков Юрий Юрьевич" initials="КЮЮ" lastIdx="4" clrIdx="0">
    <p:extLst>
      <p:ext uri="{19B8F6BF-5375-455C-9EA6-DF929625EA0E}">
        <p15:presenceInfo xmlns:p15="http://schemas.microsoft.com/office/powerpoint/2012/main" userId="S::ykutkov@hse.ru::45dbd1ed-eea1-4925-9fa4-5001421b49da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D746"/>
    <a:srgbClr val="029C63"/>
    <a:srgbClr val="96628C"/>
    <a:srgbClr val="11A0D7"/>
    <a:srgbClr val="E61F3D"/>
    <a:srgbClr val="CD5A5A"/>
    <a:srgbClr val="0E2D69"/>
    <a:srgbClr val="D9D9D9"/>
    <a:srgbClr val="EB681F"/>
    <a:srgbClr val="234A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Стиль из темы 1 -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Светлый стиль 2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Светлый стиль 1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031" autoAdjust="0"/>
    <p:restoredTop sz="81404" autoAdjust="0"/>
  </p:normalViewPr>
  <p:slideViewPr>
    <p:cSldViewPr snapToGrid="0" snapToObjects="1">
      <p:cViewPr varScale="1">
        <p:scale>
          <a:sx n="93" d="100"/>
          <a:sy n="93" d="100"/>
        </p:scale>
        <p:origin x="1554" y="84"/>
      </p:cViewPr>
      <p:guideLst>
        <p:guide pos="325"/>
        <p:guide pos="1209"/>
        <p:guide pos="2955"/>
        <p:guide pos="2071"/>
        <p:guide pos="3840"/>
        <p:guide pos="4702"/>
        <p:guide pos="5586"/>
        <p:guide pos="7333"/>
        <p:guide orient="horz" pos="3952"/>
        <p:guide pos="6471"/>
        <p:guide orient="horz" pos="913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134" d="100"/>
          <a:sy n="134" d="100"/>
        </p:scale>
        <p:origin x="3648" y="1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19.xml"/><Relationship Id="rId7" Type="http://schemas.openxmlformats.org/officeDocument/2006/relationships/slide" Target="slides/slide18.xml"/><Relationship Id="rId8" Type="http://schemas.openxmlformats.org/officeDocument/2006/relationships/slide" Target="slides/slide17.xml"/><Relationship Id="rId9" Type="http://schemas.openxmlformats.org/officeDocument/2006/relationships/slide" Target="slides/slide16.xml"/><Relationship Id="rId10" Type="http://schemas.openxmlformats.org/officeDocument/2006/relationships/slide" Target="slides/slide15.xml"/><Relationship Id="rId11" Type="http://schemas.openxmlformats.org/officeDocument/2006/relationships/slide" Target="slides/slide14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notesMaster" Target="notesMasters/notesMaster1.xml"/><Relationship Id="rId25" Type="http://schemas.openxmlformats.org/officeDocument/2006/relationships/commentAuthors" Target="commentAuthors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261BF4-8B2C-784B-9959-B59A059012C3}" type="datetimeFigureOut">
              <a:rPr lang="en-RU" smtClean="0"/>
              <a:t>06/05/2025</a:t>
            </a:fld>
            <a:endParaRPr lang="en-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748903-8EB5-294E-A216-6B54B0368783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7316809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Добрый день, уважаемая комиссия, тема моей работы Разработка приложения для распознавания и поиска объектов на видеоизображении в социальных сетях, научный руководитель Замятина Елена Борисовна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748903-8EB5-294E-A216-6B54B0368783}" type="slidenum">
              <a:rPr lang="en-RU" smtClean="0"/>
              <a:t>1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22330946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бложк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8" descr="A blue circle with white text&#10;&#10;Description automatically generated with low confidence">
            <a:extLst>
              <a:ext uri="{FF2B5EF4-FFF2-40B4-BE49-F238E27FC236}">
                <a16:creationId xmlns:a16="http://schemas.microsoft.com/office/drawing/2014/main" id="{BA292C80-0DA8-194A-9A66-279048FA2A5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13859" y="962173"/>
            <a:ext cx="886499" cy="886499"/>
          </a:xfrm>
          <a:prstGeom prst="rect">
            <a:avLst/>
          </a:prstGeom>
        </p:spPr>
      </p:pic>
      <p:cxnSp>
        <p:nvCxnSpPr>
          <p:cNvPr id="11" name="Straight Connector 48">
            <a:extLst>
              <a:ext uri="{FF2B5EF4-FFF2-40B4-BE49-F238E27FC236}">
                <a16:creationId xmlns:a16="http://schemas.microsoft.com/office/drawing/2014/main" id="{313EF906-5BAC-0141-A198-076E155DF9E2}"/>
              </a:ext>
            </a:extLst>
          </p:cNvPr>
          <p:cNvCxnSpPr>
            <a:cxnSpLocks/>
          </p:cNvCxnSpPr>
          <p:nvPr userDrawn="1"/>
        </p:nvCxnSpPr>
        <p:spPr>
          <a:xfrm>
            <a:off x="6090212" y="985336"/>
            <a:ext cx="0" cy="840173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50">
            <a:extLst>
              <a:ext uri="{FF2B5EF4-FFF2-40B4-BE49-F238E27FC236}">
                <a16:creationId xmlns:a16="http://schemas.microsoft.com/office/drawing/2014/main" id="{61206A97-26F2-E646-8775-9928FEF465B5}"/>
              </a:ext>
            </a:extLst>
          </p:cNvPr>
          <p:cNvCxnSpPr>
            <a:cxnSpLocks/>
          </p:cNvCxnSpPr>
          <p:nvPr userDrawn="1"/>
        </p:nvCxnSpPr>
        <p:spPr>
          <a:xfrm>
            <a:off x="8642581" y="985336"/>
            <a:ext cx="0" cy="840173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51">
            <a:extLst>
              <a:ext uri="{FF2B5EF4-FFF2-40B4-BE49-F238E27FC236}">
                <a16:creationId xmlns:a16="http://schemas.microsoft.com/office/drawing/2014/main" id="{28E0E5F6-C1CA-9B41-B1DB-6E4FB509084D}"/>
              </a:ext>
            </a:extLst>
          </p:cNvPr>
          <p:cNvCxnSpPr>
            <a:cxnSpLocks/>
          </p:cNvCxnSpPr>
          <p:nvPr userDrawn="1"/>
        </p:nvCxnSpPr>
        <p:spPr>
          <a:xfrm>
            <a:off x="11179047" y="985336"/>
            <a:ext cx="0" cy="840173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Заголовок 15">
            <a:extLst>
              <a:ext uri="{FF2B5EF4-FFF2-40B4-BE49-F238E27FC236}">
                <a16:creationId xmlns:a16="http://schemas.microsoft.com/office/drawing/2014/main" id="{6007C52F-2E27-E24A-B9DC-AAAB052DB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7967" y="2404670"/>
            <a:ext cx="7634059" cy="1978323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4300" b="0" i="0" baseline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  <a:t>Название презентации</a:t>
            </a:r>
            <a:b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  <a:t>может быть набрано в две </a:t>
            </a:r>
            <a:b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  <a:t>или три строки (43 </a:t>
            </a:r>
            <a:r>
              <a:rPr lang="en-GB" sz="4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4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4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0" name="Текст 19">
            <a:extLst>
              <a:ext uri="{FF2B5EF4-FFF2-40B4-BE49-F238E27FC236}">
                <a16:creationId xmlns:a16="http://schemas.microsoft.com/office/drawing/2014/main" id="{18109844-C2E7-354F-9C01-8834E4DCE3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947" y="1187841"/>
            <a:ext cx="3848717" cy="435163"/>
          </a:xfr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 b="0" i="0">
                <a:latin typeface="HSE Sans" panose="02000000000000000000" pitchFamily="2" charset="0"/>
              </a:defRPr>
            </a:lvl1pPr>
            <a:lvl2pPr marL="457200" indent="0" algn="l">
              <a:buNone/>
              <a:defRPr sz="1600" b="0" i="0">
                <a:latin typeface="HSE Sans" panose="02000000000000000000" pitchFamily="2" charset="0"/>
              </a:defRPr>
            </a:lvl2pPr>
            <a:lvl3pPr marL="914400" indent="0" algn="l">
              <a:buNone/>
              <a:defRPr sz="1600" b="0" i="0">
                <a:latin typeface="HSE Sans" panose="02000000000000000000" pitchFamily="2" charset="0"/>
              </a:defRPr>
            </a:lvl3pPr>
            <a:lvl4pPr marL="1371600" indent="0" algn="l">
              <a:buNone/>
              <a:defRPr sz="1600" b="0" i="0">
                <a:latin typeface="HSE Sans" panose="02000000000000000000" pitchFamily="2" charset="0"/>
              </a:defRPr>
            </a:lvl4pPr>
            <a:lvl5pPr marL="1828800" indent="0" algn="l">
              <a:buNone/>
              <a:defRPr sz="1600" b="0" i="0">
                <a:latin typeface="HSE Sans" panose="02000000000000000000" pitchFamily="2" charset="0"/>
              </a:defRPr>
            </a:lvl5pPr>
          </a:lstStyle>
          <a:p>
            <a:r>
              <a:rPr lang="ru-RU" dirty="0">
                <a:latin typeface="HSE Sans" panose="02000000000000000000" pitchFamily="2" charset="0"/>
              </a:rPr>
              <a:t>Название факультета</a:t>
            </a:r>
            <a:br>
              <a:rPr lang="ru-RU" dirty="0">
                <a:latin typeface="HSE Sans" panose="02000000000000000000" pitchFamily="2" charset="0"/>
              </a:rPr>
            </a:br>
            <a:r>
              <a:rPr lang="ru-RU" dirty="0">
                <a:latin typeface="HSE Sans" panose="02000000000000000000" pitchFamily="2" charset="0"/>
              </a:rPr>
              <a:t>в две строки</a:t>
            </a:r>
            <a:r>
              <a:rPr lang="en-GB" dirty="0">
                <a:latin typeface="HSE Sans" panose="02000000000000000000" pitchFamily="2" charset="0"/>
              </a:rPr>
              <a:t> (16 </a:t>
            </a:r>
            <a:r>
              <a:rPr lang="en-GB" dirty="0" err="1">
                <a:latin typeface="HSE Sans" panose="02000000000000000000" pitchFamily="2" charset="0"/>
              </a:rPr>
              <a:t>pt</a:t>
            </a:r>
            <a:r>
              <a:rPr lang="en-GB" dirty="0">
                <a:latin typeface="HSE Sans" panose="02000000000000000000" pitchFamily="2" charset="0"/>
              </a:rPr>
              <a:t>)</a:t>
            </a:r>
            <a:endParaRPr lang="ru-RU" dirty="0">
              <a:latin typeface="HSE Sans" panose="02000000000000000000" pitchFamily="2" charset="0"/>
            </a:endParaRPr>
          </a:p>
        </p:txBody>
      </p:sp>
      <p:sp>
        <p:nvSpPr>
          <p:cNvPr id="25" name="Текст 24">
            <a:extLst>
              <a:ext uri="{FF2B5EF4-FFF2-40B4-BE49-F238E27FC236}">
                <a16:creationId xmlns:a16="http://schemas.microsoft.com/office/drawing/2014/main" id="{40A04329-C800-BB42-BFE0-7E3C68848DA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59420" y="1173829"/>
            <a:ext cx="2278063" cy="463186"/>
          </a:xfrm>
        </p:spPr>
        <p:txBody>
          <a:bodyPr lIns="0" tIns="0" rIns="0" bIns="0" anchor="t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200" dirty="0">
                <a:latin typeface="HSE Sans" panose="02000000000000000000" pitchFamily="2" charset="0"/>
              </a:rPr>
            </a:br>
            <a:r>
              <a:rPr lang="ru-RU" sz="12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200" dirty="0">
                <a:latin typeface="HSE Sans" panose="02000000000000000000" pitchFamily="2" charset="0"/>
              </a:rPr>
              <a:t> (12pt)</a:t>
            </a:r>
            <a:endParaRPr lang="ru-RU" sz="1200" dirty="0">
              <a:latin typeface="HSE Sans" panose="02000000000000000000" pitchFamily="2" charset="0"/>
            </a:endParaRPr>
          </a:p>
        </p:txBody>
      </p:sp>
      <p:sp>
        <p:nvSpPr>
          <p:cNvPr id="27" name="Текст 26">
            <a:extLst>
              <a:ext uri="{FF2B5EF4-FFF2-40B4-BE49-F238E27FC236}">
                <a16:creationId xmlns:a16="http://schemas.microsoft.com/office/drawing/2014/main" id="{98337931-3EC2-F348-99EA-860F4FFDC188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8786720" y="1173829"/>
            <a:ext cx="2217738" cy="463186"/>
          </a:xfrm>
        </p:spPr>
        <p:txBody>
          <a:bodyPr lIns="0" tIns="0" rIns="0" bIns="0" anchor="t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HSE Sans" panose="02000000000000000000" pitchFamily="2" charset="0"/>
              </a:rPr>
              <a:t>Москва</a:t>
            </a:r>
            <a:br>
              <a:rPr lang="ru-RU" sz="1200" dirty="0">
                <a:latin typeface="HSE Sans" panose="02000000000000000000" pitchFamily="2" charset="0"/>
              </a:rPr>
            </a:br>
            <a:r>
              <a:rPr lang="ru-RU" sz="1200" dirty="0">
                <a:latin typeface="HSE Sans" panose="02000000000000000000" pitchFamily="2" charset="0"/>
              </a:rPr>
              <a:t>2022</a:t>
            </a:r>
            <a:r>
              <a:rPr lang="en-GB" sz="1200" dirty="0">
                <a:latin typeface="HSE Sans" panose="02000000000000000000" pitchFamily="2" charset="0"/>
              </a:rPr>
              <a:t> (12pt)</a:t>
            </a:r>
            <a:endParaRPr lang="ru-RU" sz="1200" dirty="0">
              <a:latin typeface="HSE Sans" panose="02000000000000000000" pitchFamily="2" charset="0"/>
            </a:endParaRPr>
          </a:p>
        </p:txBody>
      </p:sp>
      <p:sp>
        <p:nvSpPr>
          <p:cNvPr id="29" name="Текст 28">
            <a:extLst>
              <a:ext uri="{FF2B5EF4-FFF2-40B4-BE49-F238E27FC236}">
                <a16:creationId xmlns:a16="http://schemas.microsoft.com/office/drawing/2014/main" id="{EEA7A79B-D410-B44F-BF32-C3EAEFC20A6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27967" y="4824914"/>
            <a:ext cx="7625267" cy="652860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600" dirty="0">
                <a:latin typeface="HSE Sans" panose="02000000000000000000" pitchFamily="2" charset="0"/>
              </a:rPr>
              <a:t>Если нужно больше места, то используйте подзаголовок</a:t>
            </a:r>
            <a:r>
              <a:rPr lang="en-GB" sz="1600" dirty="0">
                <a:latin typeface="HSE Sans" panose="02000000000000000000" pitchFamily="2" charset="0"/>
              </a:rPr>
              <a:t> (16 </a:t>
            </a:r>
            <a:r>
              <a:rPr lang="en-GB" sz="1600" dirty="0" err="1">
                <a:latin typeface="HSE Sans" panose="02000000000000000000" pitchFamily="2" charset="0"/>
              </a:rPr>
              <a:t>pt</a:t>
            </a:r>
            <a:r>
              <a:rPr lang="en-GB" sz="1600" dirty="0">
                <a:latin typeface="HSE Sans" panose="02000000000000000000" pitchFamily="2" charset="0"/>
              </a:rPr>
              <a:t>)</a:t>
            </a:r>
            <a:endParaRPr lang="ru-RU" sz="16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28959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4" descr="Icon&#10;&#10;Description automatically generated">
            <a:extLst>
              <a:ext uri="{FF2B5EF4-FFF2-40B4-BE49-F238E27FC236}">
                <a16:creationId xmlns:a16="http://schemas.microsoft.com/office/drawing/2014/main" id="{4A1436AC-5F96-2A4F-BFC7-B3442083EB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89616" y="258680"/>
            <a:ext cx="448276" cy="448276"/>
          </a:xfrm>
          <a:prstGeom prst="rect">
            <a:avLst/>
          </a:prstGeom>
        </p:spPr>
      </p:pic>
      <p:cxnSp>
        <p:nvCxnSpPr>
          <p:cNvPr id="11" name="Straight Connector 19">
            <a:extLst>
              <a:ext uri="{FF2B5EF4-FFF2-40B4-BE49-F238E27FC236}">
                <a16:creationId xmlns:a16="http://schemas.microsoft.com/office/drawing/2014/main" id="{067DD2ED-246D-7D41-B51F-FED98BF873FD}"/>
              </a:ext>
            </a:extLst>
          </p:cNvPr>
          <p:cNvCxnSpPr>
            <a:cxnSpLocks/>
          </p:cNvCxnSpPr>
          <p:nvPr userDrawn="1"/>
        </p:nvCxnSpPr>
        <p:spPr>
          <a:xfrm>
            <a:off x="3747573" y="189688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21">
            <a:extLst>
              <a:ext uri="{FF2B5EF4-FFF2-40B4-BE49-F238E27FC236}">
                <a16:creationId xmlns:a16="http://schemas.microsoft.com/office/drawing/2014/main" id="{68E8C250-D449-A743-8975-B5BFB04D9744}"/>
              </a:ext>
            </a:extLst>
          </p:cNvPr>
          <p:cNvCxnSpPr>
            <a:cxnSpLocks/>
          </p:cNvCxnSpPr>
          <p:nvPr userDrawn="1"/>
        </p:nvCxnSpPr>
        <p:spPr>
          <a:xfrm>
            <a:off x="6684653" y="239854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25">
            <a:extLst>
              <a:ext uri="{FF2B5EF4-FFF2-40B4-BE49-F238E27FC236}">
                <a16:creationId xmlns:a16="http://schemas.microsoft.com/office/drawing/2014/main" id="{DD1C71CA-B883-AF42-959D-BCA5690AAA4B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255590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4D3A12E-0E10-C441-81D2-C3C1EB6A0537}"/>
              </a:ext>
            </a:extLst>
          </p:cNvPr>
          <p:cNvSpPr txBox="1"/>
          <p:nvPr userDrawn="1"/>
        </p:nvSpPr>
        <p:spPr>
          <a:xfrm>
            <a:off x="10410201" y="328930"/>
            <a:ext cx="936672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 / </a:t>
            </a:r>
            <a:r>
              <a:rPr lang="ru-RU" sz="2000" dirty="0">
                <a:solidFill>
                  <a:srgbClr val="102D69"/>
                </a:solidFill>
                <a:latin typeface="HSE Sans" panose="02000000000000000000" pitchFamily="2" charset="0"/>
              </a:rPr>
              <a:t>19</a:t>
            </a:r>
          </a:p>
        </p:txBody>
      </p:sp>
      <p:cxnSp>
        <p:nvCxnSpPr>
          <p:cNvPr id="19" name="Straight Connector 59">
            <a:extLst>
              <a:ext uri="{FF2B5EF4-FFF2-40B4-BE49-F238E27FC236}">
                <a16:creationId xmlns:a16="http://schemas.microsoft.com/office/drawing/2014/main" id="{3447008E-4F3B-FC4E-B96D-3927FAE1ED17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239854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Рисунок 23">
            <a:extLst>
              <a:ext uri="{FF2B5EF4-FFF2-40B4-BE49-F238E27FC236}">
                <a16:creationId xmlns:a16="http://schemas.microsoft.com/office/drawing/2014/main" id="{61115A7A-23E5-E442-9551-F72F1CDA57B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684653" y="1447790"/>
            <a:ext cx="4325167" cy="4325107"/>
          </a:xfrm>
          <a:solidFill>
            <a:srgbClr val="D9D9D9"/>
          </a:solidFill>
        </p:spPr>
        <p:txBody>
          <a:bodyPr anchor="ctr">
            <a:norm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2">
                    <a:lumMod val="10000"/>
                  </a:schemeClr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2800" dirty="0">
                <a:solidFill>
                  <a:schemeClr val="tx1"/>
                </a:solidFill>
                <a:latin typeface="HSE Sans" panose="02000000000000000000" pitchFamily="2" charset="0"/>
              </a:rPr>
              <a:t>Чтобы слайд не выглядел пустым, сюда можно поставить иллюстрацию или фотографию</a:t>
            </a:r>
            <a:endParaRPr lang="en-RU" sz="2800">
              <a:solidFill>
                <a:schemeClr val="tx1"/>
              </a:solidFill>
              <a:latin typeface="HSE Sans" panose="02000000000000000000" pitchFamily="2" charset="0"/>
            </a:endParaRPr>
          </a:p>
        </p:txBody>
      </p:sp>
      <p:sp>
        <p:nvSpPr>
          <p:cNvPr id="32" name="Заголовок 31">
            <a:extLst>
              <a:ext uri="{FF2B5EF4-FFF2-40B4-BE49-F238E27FC236}">
                <a16:creationId xmlns:a16="http://schemas.microsoft.com/office/drawing/2014/main" id="{9ED7AA97-D972-DF4F-B662-A65F2A544C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8" y="1447790"/>
            <a:ext cx="5245560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</a:t>
            </a:r>
            <a:b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36" name="Текст 35">
            <a:extLst>
              <a:ext uri="{FF2B5EF4-FFF2-40B4-BE49-F238E27FC236}">
                <a16:creationId xmlns:a16="http://schemas.microsoft.com/office/drawing/2014/main" id="{69E35E54-2B19-7441-876F-1C6A84F4F15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7" y="2379663"/>
            <a:ext cx="5245561" cy="3393234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lvl="0"/>
            <a:r>
              <a:rPr lang="ru-RU" dirty="0"/>
              <a:t>Небольшие куски текста (13</a:t>
            </a:r>
            <a:r>
              <a:rPr lang="en-US" dirty="0" err="1"/>
              <a:t>pt</a:t>
            </a:r>
            <a:r>
              <a:rPr lang="en-US" dirty="0"/>
              <a:t>) </a:t>
            </a:r>
            <a:r>
              <a:rPr lang="ru-RU" dirty="0"/>
              <a:t>можно набирать в одну колонку, но не делайте колонку на всю ширину экрана. 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 Если у вас есть свободное пространство и вы считаете, что текст одинок и ему нужна компания, то поставьте рядом небольшое изображение, которое иллюстрирует ваш текст или дополняет его.</a:t>
            </a:r>
          </a:p>
        </p:txBody>
      </p:sp>
      <p:sp>
        <p:nvSpPr>
          <p:cNvPr id="38" name="Текст 37">
            <a:extLst>
              <a:ext uri="{FF2B5EF4-FFF2-40B4-BE49-F238E27FC236}">
                <a16:creationId xmlns:a16="http://schemas.microsoft.com/office/drawing/2014/main" id="{7FB4A275-856E-364D-8AA4-2071AADC6AA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243698"/>
            <a:ext cx="2470764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Разработка приложения для распознавания и поиска объектов на видеоизображении в социальных сетях</a:t>
            </a:r>
          </a:p>
        </p:txBody>
      </p:sp>
      <p:sp>
        <p:nvSpPr>
          <p:cNvPr id="40" name="Текст 39">
            <a:extLst>
              <a:ext uri="{FF2B5EF4-FFF2-40B4-BE49-F238E27FC236}">
                <a16:creationId xmlns:a16="http://schemas.microsoft.com/office/drawing/2014/main" id="{58FBA0EA-8BE0-A643-B258-4E5C344671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836586" y="234170"/>
            <a:ext cx="102971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Белов Егор</a:t>
            </a:r>
          </a:p>
        </p:txBody>
      </p:sp>
      <p:sp>
        <p:nvSpPr>
          <p:cNvPr id="41" name="Текст 39">
            <a:extLst>
              <a:ext uri="{FF2B5EF4-FFF2-40B4-BE49-F238E27FC236}">
                <a16:creationId xmlns:a16="http://schemas.microsoft.com/office/drawing/2014/main" id="{0BEC062F-1BEB-DE4C-B7EE-C552C9D45F1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81393" y="243698"/>
            <a:ext cx="1130122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9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Защита ВКР</a:t>
            </a:r>
          </a:p>
          <a:p>
            <a:r>
              <a:rPr lang="ru-RU" sz="1000" dirty="0">
                <a:latin typeface="HSE Sans" panose="02000000000000000000" pitchFamily="2" charset="0"/>
              </a:rPr>
              <a:t>Пермь</a:t>
            </a:r>
          </a:p>
          <a:p>
            <a:r>
              <a:rPr lang="ru-RU" sz="1000" dirty="0">
                <a:latin typeface="HSE Sans" panose="02000000000000000000" pitchFamily="2" charset="0"/>
              </a:rPr>
              <a:t>06.06.2025</a:t>
            </a:r>
          </a:p>
        </p:txBody>
      </p:sp>
    </p:spTree>
    <p:extLst>
      <p:ext uri="{BB962C8B-B14F-4D97-AF65-F5344CB8AC3E}">
        <p14:creationId xmlns:p14="http://schemas.microsoft.com/office/powerpoint/2010/main" val="13412874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 descr="Icon&#10;&#10;Description automatically generated">
            <a:extLst>
              <a:ext uri="{FF2B5EF4-FFF2-40B4-BE49-F238E27FC236}">
                <a16:creationId xmlns:a16="http://schemas.microsoft.com/office/drawing/2014/main" id="{FDC66DB8-29BC-5940-A721-40F10021456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8" name="Straight Connector 19">
            <a:extLst>
              <a:ext uri="{FF2B5EF4-FFF2-40B4-BE49-F238E27FC236}">
                <a16:creationId xmlns:a16="http://schemas.microsoft.com/office/drawing/2014/main" id="{DE27C859-478F-3648-8A9D-2C85DBDCAC09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1">
            <a:extLst>
              <a:ext uri="{FF2B5EF4-FFF2-40B4-BE49-F238E27FC236}">
                <a16:creationId xmlns:a16="http://schemas.microsoft.com/office/drawing/2014/main" id="{58EA1144-CFD8-1D47-B430-7014F576043B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5">
            <a:extLst>
              <a:ext uri="{FF2B5EF4-FFF2-40B4-BE49-F238E27FC236}">
                <a16:creationId xmlns:a16="http://schemas.microsoft.com/office/drawing/2014/main" id="{96EDC73C-5A3C-014E-8E52-04CAFCA9B20B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5E88681-53A8-3B45-B80A-372EDFB53883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2" name="Straight Connector 59">
            <a:extLst>
              <a:ext uri="{FF2B5EF4-FFF2-40B4-BE49-F238E27FC236}">
                <a16:creationId xmlns:a16="http://schemas.microsoft.com/office/drawing/2014/main" id="{EDA7D8BF-DF37-704F-B77F-7E40752ACE25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Текст 37">
            <a:extLst>
              <a:ext uri="{FF2B5EF4-FFF2-40B4-BE49-F238E27FC236}">
                <a16:creationId xmlns:a16="http://schemas.microsoft.com/office/drawing/2014/main" id="{5026DBD8-54A3-1446-9D3B-BA2B38460F1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E8AA3569-5054-7D47-AB14-BCFB0440D0A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6" name="Заголовок 31">
            <a:extLst>
              <a:ext uri="{FF2B5EF4-FFF2-40B4-BE49-F238E27FC236}">
                <a16:creationId xmlns:a16="http://schemas.microsoft.com/office/drawing/2014/main" id="{76942483-EB13-0A4B-8060-DB65024C29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7" y="1447790"/>
            <a:ext cx="11057955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 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66FAD63B-F743-0F47-BBE3-D77317667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7" y="2379663"/>
            <a:ext cx="11057971" cy="3745092"/>
          </a:xfrm>
        </p:spPr>
        <p:txBody>
          <a:bodyPr lIns="0" tIns="0" rIns="0" numCol="3" spcCol="25200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300" dirty="0">
                <a:latin typeface="HSE Sans" panose="02000000000000000000" pitchFamily="2" charset="0"/>
              </a:rPr>
              <a:t>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</a:t>
            </a:r>
          </a:p>
        </p:txBody>
      </p:sp>
      <p:sp>
        <p:nvSpPr>
          <p:cNvPr id="18" name="Текст 39">
            <a:extLst>
              <a:ext uri="{FF2B5EF4-FFF2-40B4-BE49-F238E27FC236}">
                <a16:creationId xmlns:a16="http://schemas.microsoft.com/office/drawing/2014/main" id="{8A048480-30C9-044E-8C2E-0F67398FEE1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71834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_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 descr="Icon&#10;&#10;Description automatically generated">
            <a:extLst>
              <a:ext uri="{FF2B5EF4-FFF2-40B4-BE49-F238E27FC236}">
                <a16:creationId xmlns:a16="http://schemas.microsoft.com/office/drawing/2014/main" id="{0E78CA68-7A0C-CF41-9AC6-A547FB9EC3B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8" name="Straight Connector 19">
            <a:extLst>
              <a:ext uri="{FF2B5EF4-FFF2-40B4-BE49-F238E27FC236}">
                <a16:creationId xmlns:a16="http://schemas.microsoft.com/office/drawing/2014/main" id="{45DC512A-A23B-B24D-A1F6-6793976867CF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1">
            <a:extLst>
              <a:ext uri="{FF2B5EF4-FFF2-40B4-BE49-F238E27FC236}">
                <a16:creationId xmlns:a16="http://schemas.microsoft.com/office/drawing/2014/main" id="{21F91649-DF0F-5F45-A43B-2CED9ACDD049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5">
            <a:extLst>
              <a:ext uri="{FF2B5EF4-FFF2-40B4-BE49-F238E27FC236}">
                <a16:creationId xmlns:a16="http://schemas.microsoft.com/office/drawing/2014/main" id="{3137B760-1A50-1845-B7F2-1EF31C71C72B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5ECCF8F-5855-7943-B503-5573887A534D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2" name="Straight Connector 59">
            <a:extLst>
              <a:ext uri="{FF2B5EF4-FFF2-40B4-BE49-F238E27FC236}">
                <a16:creationId xmlns:a16="http://schemas.microsoft.com/office/drawing/2014/main" id="{FB81B23D-CDD8-E64C-9887-3540F7EE1C4B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Текст 37">
            <a:extLst>
              <a:ext uri="{FF2B5EF4-FFF2-40B4-BE49-F238E27FC236}">
                <a16:creationId xmlns:a16="http://schemas.microsoft.com/office/drawing/2014/main" id="{C2D710AE-3CBE-5940-A7EB-F96132E6592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FCC5A33D-0A3C-F140-B745-367744A5F30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5163BE0A-A745-414A-AF21-D968BD69D2D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8" y="2379663"/>
            <a:ext cx="4322531" cy="239937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lvl="0"/>
            <a:r>
              <a:rPr lang="ru-RU" dirty="0"/>
              <a:t>Небольшие куски текста (13</a:t>
            </a:r>
            <a:r>
              <a:rPr lang="en-US" dirty="0" err="1"/>
              <a:t>pt</a:t>
            </a:r>
            <a:r>
              <a:rPr lang="en-US" dirty="0"/>
              <a:t>) </a:t>
            </a:r>
            <a:r>
              <a:rPr lang="ru-RU" dirty="0"/>
              <a:t>можно набирать в одну колонку, но не делайте колонку на всю ширину экрана. 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 Если у вас есть свободное пространство и вы считаете, что текст одинок и ему нужна компания, то поставьте рядом небольшое изображение, которое иллюстрирует ваш текст или дополняет его.</a:t>
            </a:r>
          </a:p>
        </p:txBody>
      </p:sp>
      <p:sp>
        <p:nvSpPr>
          <p:cNvPr id="20" name="Текст 35">
            <a:extLst>
              <a:ext uri="{FF2B5EF4-FFF2-40B4-BE49-F238E27FC236}">
                <a16:creationId xmlns:a16="http://schemas.microsoft.com/office/drawing/2014/main" id="{B3D47CF6-5FC1-2346-8894-A7CC39063DE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5897" y="5183249"/>
            <a:ext cx="3934345" cy="553998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Примечания, или любая другая пояснительная или дополнительная информация набираются шрифтом размером 10 </a:t>
            </a:r>
            <a:r>
              <a:rPr lang="en-GB" sz="1000" dirty="0" err="1">
                <a:latin typeface="HSE Sans" panose="02000000000000000000" pitchFamily="2" charset="0"/>
              </a:rPr>
              <a:t>pt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3" name="Текст 22">
            <a:extLst>
              <a:ext uri="{FF2B5EF4-FFF2-40B4-BE49-F238E27FC236}">
                <a16:creationId xmlns:a16="http://schemas.microsoft.com/office/drawing/2014/main" id="{CD14B8F3-89C2-9F45-809E-D1EAF85AC56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59892" y="2379663"/>
            <a:ext cx="5383968" cy="3451794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2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3200" dirty="0">
                <a:solidFill>
                  <a:srgbClr val="102D69"/>
                </a:solidFill>
                <a:latin typeface="HSE Sans" panose="02000000000000000000" pitchFamily="2" charset="0"/>
              </a:rPr>
              <a:t>Небольшую фразу, с важной информацией, можно выделить, набрав ее более крупным кеглем, чем обычный  текст. Делать это часто не рекомендуется.</a:t>
            </a:r>
          </a:p>
          <a:p>
            <a:pPr lvl="0"/>
            <a:endParaRPr lang="ru-RU" dirty="0"/>
          </a:p>
        </p:txBody>
      </p:sp>
      <p:sp>
        <p:nvSpPr>
          <p:cNvPr id="24" name="Текст 39">
            <a:extLst>
              <a:ext uri="{FF2B5EF4-FFF2-40B4-BE49-F238E27FC236}">
                <a16:creationId xmlns:a16="http://schemas.microsoft.com/office/drawing/2014/main" id="{3BE4279A-8109-B244-B721-18F10C696B1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5" name="Заголовок 31">
            <a:extLst>
              <a:ext uri="{FF2B5EF4-FFF2-40B4-BE49-F238E27FC236}">
                <a16:creationId xmlns:a16="http://schemas.microsoft.com/office/drawing/2014/main" id="{B32DC3D4-97A5-3E4F-A29B-422D5E3129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7" y="1447790"/>
            <a:ext cx="11057955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 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37956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График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 descr="Icon&#10;&#10;Description automatically generated">
            <a:extLst>
              <a:ext uri="{FF2B5EF4-FFF2-40B4-BE49-F238E27FC236}">
                <a16:creationId xmlns:a16="http://schemas.microsoft.com/office/drawing/2014/main" id="{9E89D752-CAC6-0943-9A3D-4C52DBF50CE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8" name="Straight Connector 19">
            <a:extLst>
              <a:ext uri="{FF2B5EF4-FFF2-40B4-BE49-F238E27FC236}">
                <a16:creationId xmlns:a16="http://schemas.microsoft.com/office/drawing/2014/main" id="{64D89E64-93BB-044D-B3D4-8F2679C5CA4C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1">
            <a:extLst>
              <a:ext uri="{FF2B5EF4-FFF2-40B4-BE49-F238E27FC236}">
                <a16:creationId xmlns:a16="http://schemas.microsoft.com/office/drawing/2014/main" id="{D0C3B169-866D-C645-AF76-00F8C2A97E9B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5">
            <a:extLst>
              <a:ext uri="{FF2B5EF4-FFF2-40B4-BE49-F238E27FC236}">
                <a16:creationId xmlns:a16="http://schemas.microsoft.com/office/drawing/2014/main" id="{FDDF48AB-D8AE-0E42-A544-8EA5B8744778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6DF89EC-1E7C-3B40-85F4-6D19A7D29AC7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2" name="Straight Connector 59">
            <a:extLst>
              <a:ext uri="{FF2B5EF4-FFF2-40B4-BE49-F238E27FC236}">
                <a16:creationId xmlns:a16="http://schemas.microsoft.com/office/drawing/2014/main" id="{019D6862-BD52-734D-9E19-38C147CA2D29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Текст 37">
            <a:extLst>
              <a:ext uri="{FF2B5EF4-FFF2-40B4-BE49-F238E27FC236}">
                <a16:creationId xmlns:a16="http://schemas.microsoft.com/office/drawing/2014/main" id="{A9BD5ADD-B3F2-C342-82F7-83683F040D2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4F15CBC0-FC8B-744E-95A7-C9863CDC31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6" name="Текст 39">
            <a:extLst>
              <a:ext uri="{FF2B5EF4-FFF2-40B4-BE49-F238E27FC236}">
                <a16:creationId xmlns:a16="http://schemas.microsoft.com/office/drawing/2014/main" id="{BC3B54AA-A0BD-E646-B3B7-C0E724D26D2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Заголовок 31">
            <a:extLst>
              <a:ext uri="{FF2B5EF4-FFF2-40B4-BE49-F238E27FC236}">
                <a16:creationId xmlns:a16="http://schemas.microsoft.com/office/drawing/2014/main" id="{B3F16318-C9C3-B948-A508-4BC53D0B771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9" y="1447790"/>
            <a:ext cx="4322530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 </a:t>
            </a:r>
            <a:b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23B3E5FB-BBCE-4149-AD9A-8CAB06CC9F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8" y="2379663"/>
            <a:ext cx="4322531" cy="239937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en-GB" sz="1300" dirty="0">
                <a:latin typeface="HSE Sans" panose="02000000000000000000" pitchFamily="2" charset="0"/>
              </a:rPr>
              <a:t>Lorem ipsum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sit </a:t>
            </a:r>
            <a:r>
              <a:rPr lang="en-GB" sz="1300" dirty="0" err="1">
                <a:latin typeface="HSE Sans" panose="02000000000000000000" pitchFamily="2" charset="0"/>
              </a:rPr>
              <a:t>amet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consectetur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adipiscing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elit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sed</a:t>
            </a:r>
            <a:r>
              <a:rPr lang="en-GB" sz="1300" dirty="0">
                <a:latin typeface="HSE Sans" panose="02000000000000000000" pitchFamily="2" charset="0"/>
              </a:rPr>
              <a:t> do </a:t>
            </a:r>
            <a:r>
              <a:rPr lang="en-GB" sz="1300" dirty="0" err="1">
                <a:latin typeface="HSE Sans" panose="02000000000000000000" pitchFamily="2" charset="0"/>
              </a:rPr>
              <a:t>eiusmod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tempor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incididunt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labore</a:t>
            </a:r>
            <a:r>
              <a:rPr lang="en-GB" sz="1300" dirty="0">
                <a:latin typeface="HSE Sans" panose="02000000000000000000" pitchFamily="2" charset="0"/>
              </a:rPr>
              <a:t> et dolore magna </a:t>
            </a:r>
            <a:r>
              <a:rPr lang="en-GB" sz="1300" dirty="0" err="1">
                <a:latin typeface="HSE Sans" panose="02000000000000000000" pitchFamily="2" charset="0"/>
              </a:rPr>
              <a:t>aliqua</a:t>
            </a:r>
            <a:r>
              <a:rPr lang="en-GB" sz="1300" dirty="0">
                <a:latin typeface="HSE Sans" panose="02000000000000000000" pitchFamily="2" charset="0"/>
              </a:rPr>
              <a:t>. Ut </a:t>
            </a:r>
            <a:r>
              <a:rPr lang="en-GB" sz="1300" dirty="0" err="1">
                <a:latin typeface="HSE Sans" panose="02000000000000000000" pitchFamily="2" charset="0"/>
              </a:rPr>
              <a:t>enim</a:t>
            </a:r>
            <a:r>
              <a:rPr lang="en-GB" sz="1300" dirty="0">
                <a:latin typeface="HSE Sans" panose="02000000000000000000" pitchFamily="2" charset="0"/>
              </a:rPr>
              <a:t> ad minim </a:t>
            </a:r>
            <a:r>
              <a:rPr lang="en-GB" sz="1300" dirty="0" err="1">
                <a:latin typeface="HSE Sans" panose="02000000000000000000" pitchFamily="2" charset="0"/>
              </a:rPr>
              <a:t>veniam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quis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nostrud</a:t>
            </a:r>
            <a:r>
              <a:rPr lang="en-GB" sz="1300" dirty="0">
                <a:latin typeface="HSE Sans" panose="02000000000000000000" pitchFamily="2" charset="0"/>
              </a:rPr>
              <a:t> exercitation </a:t>
            </a:r>
            <a:r>
              <a:rPr lang="en-GB" sz="1300" dirty="0" err="1">
                <a:latin typeface="HSE Sans" panose="02000000000000000000" pitchFamily="2" charset="0"/>
              </a:rPr>
              <a:t>ullamco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laboris</a:t>
            </a:r>
            <a:r>
              <a:rPr lang="en-GB" sz="1300" dirty="0">
                <a:latin typeface="HSE Sans" panose="02000000000000000000" pitchFamily="2" charset="0"/>
              </a:rPr>
              <a:t> nisi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aliquip</a:t>
            </a:r>
            <a:r>
              <a:rPr lang="en-GB" sz="1300" dirty="0">
                <a:latin typeface="HSE Sans" panose="02000000000000000000" pitchFamily="2" charset="0"/>
              </a:rPr>
              <a:t> ex </a:t>
            </a:r>
            <a:r>
              <a:rPr lang="en-GB" sz="1300" dirty="0" err="1">
                <a:latin typeface="HSE Sans" panose="02000000000000000000" pitchFamily="2" charset="0"/>
              </a:rPr>
              <a:t>ea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commodo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consequat</a:t>
            </a:r>
            <a:r>
              <a:rPr lang="en-GB" sz="1300" dirty="0">
                <a:latin typeface="HSE Sans" panose="02000000000000000000" pitchFamily="2" charset="0"/>
              </a:rPr>
              <a:t>. Duis </a:t>
            </a:r>
            <a:r>
              <a:rPr lang="en-GB" sz="1300" dirty="0" err="1">
                <a:latin typeface="HSE Sans" panose="02000000000000000000" pitchFamily="2" charset="0"/>
              </a:rPr>
              <a:t>aute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irure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reprehenderit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voluptate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velit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esse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cillum</a:t>
            </a:r>
            <a:r>
              <a:rPr lang="en-GB" sz="1300" dirty="0">
                <a:latin typeface="HSE Sans" panose="02000000000000000000" pitchFamily="2" charset="0"/>
              </a:rPr>
              <a:t> dolore </a:t>
            </a:r>
            <a:r>
              <a:rPr lang="en-GB" sz="1300" dirty="0" err="1">
                <a:latin typeface="HSE Sans" panose="02000000000000000000" pitchFamily="2" charset="0"/>
              </a:rPr>
              <a:t>eu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fugiat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nulla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pariatur</a:t>
            </a:r>
            <a:r>
              <a:rPr lang="en-GB" sz="1300" dirty="0">
                <a:latin typeface="HSE Sans" panose="02000000000000000000" pitchFamily="2" charset="0"/>
              </a:rPr>
              <a:t>. </a:t>
            </a:r>
            <a:r>
              <a:rPr lang="en-GB" sz="1300" dirty="0" err="1">
                <a:latin typeface="HSE Sans" panose="02000000000000000000" pitchFamily="2" charset="0"/>
              </a:rPr>
              <a:t>Excepteur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sint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occaecat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cupidatat</a:t>
            </a:r>
            <a:r>
              <a:rPr lang="en-GB" sz="1300" dirty="0">
                <a:latin typeface="HSE Sans" panose="02000000000000000000" pitchFamily="2" charset="0"/>
              </a:rPr>
              <a:t> non </a:t>
            </a:r>
            <a:r>
              <a:rPr lang="en-GB" sz="1300" dirty="0" err="1">
                <a:latin typeface="HSE Sans" panose="02000000000000000000" pitchFamily="2" charset="0"/>
              </a:rPr>
              <a:t>proident</a:t>
            </a:r>
            <a:r>
              <a:rPr lang="en-GB" sz="1300" dirty="0">
                <a:latin typeface="HSE Sans" panose="02000000000000000000" pitchFamily="2" charset="0"/>
              </a:rPr>
              <a:t>, sunt in culpa qui </a:t>
            </a:r>
            <a:r>
              <a:rPr lang="en-GB" sz="1300" dirty="0" err="1">
                <a:latin typeface="HSE Sans" panose="02000000000000000000" pitchFamily="2" charset="0"/>
              </a:rPr>
              <a:t>officia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deserunt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mollit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anim</a:t>
            </a:r>
            <a:r>
              <a:rPr lang="en-GB" sz="1300" dirty="0">
                <a:latin typeface="HSE Sans" panose="02000000000000000000" pitchFamily="2" charset="0"/>
              </a:rPr>
              <a:t> id </a:t>
            </a:r>
            <a:r>
              <a:rPr lang="en-GB" sz="1300" dirty="0" err="1">
                <a:latin typeface="HSE Sans" panose="02000000000000000000" pitchFamily="2" charset="0"/>
              </a:rPr>
              <a:t>est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laborum</a:t>
            </a:r>
            <a:r>
              <a:rPr lang="en-GB" sz="1300" dirty="0">
                <a:latin typeface="HSE Sans" panose="02000000000000000000" pitchFamily="2" charset="0"/>
              </a:rPr>
              <a:t>.</a:t>
            </a:r>
            <a:endParaRPr lang="ru-RU" sz="1300" dirty="0">
              <a:latin typeface="HSE Sans" panose="02000000000000000000" pitchFamily="2" charset="0"/>
            </a:endParaRP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658542D3-7E45-6E46-8039-27C4C43DD61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5897" y="5183249"/>
            <a:ext cx="3934345" cy="553998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Примечания, или любая другая пояснительная или дополнительная информация набираются шрифтом размером 10 </a:t>
            </a:r>
            <a:r>
              <a:rPr lang="en-GB" sz="1000" dirty="0" err="1">
                <a:latin typeface="HSE Sans" panose="02000000000000000000" pitchFamily="2" charset="0"/>
              </a:rPr>
              <a:t>pt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1" name="Диаграмма 7">
            <a:extLst>
              <a:ext uri="{FF2B5EF4-FFF2-40B4-BE49-F238E27FC236}">
                <a16:creationId xmlns:a16="http://schemas.microsoft.com/office/drawing/2014/main" id="{57965DCA-4776-7546-97FD-A69317A34CF2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272097" y="1447790"/>
            <a:ext cx="6371768" cy="4289457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71134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График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Icon&#10;&#10;Description automatically generated">
            <a:extLst>
              <a:ext uri="{FF2B5EF4-FFF2-40B4-BE49-F238E27FC236}">
                <a16:creationId xmlns:a16="http://schemas.microsoft.com/office/drawing/2014/main" id="{11D7C3EB-CCEB-E142-9753-8B2D75A0A80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9" name="Straight Connector 19">
            <a:extLst>
              <a:ext uri="{FF2B5EF4-FFF2-40B4-BE49-F238E27FC236}">
                <a16:creationId xmlns:a16="http://schemas.microsoft.com/office/drawing/2014/main" id="{527C9F89-51CC-D243-9351-73AB081DB944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1">
            <a:extLst>
              <a:ext uri="{FF2B5EF4-FFF2-40B4-BE49-F238E27FC236}">
                <a16:creationId xmlns:a16="http://schemas.microsoft.com/office/drawing/2014/main" id="{F09EE119-6C80-E846-95F9-BB3907664128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25">
            <a:extLst>
              <a:ext uri="{FF2B5EF4-FFF2-40B4-BE49-F238E27FC236}">
                <a16:creationId xmlns:a16="http://schemas.microsoft.com/office/drawing/2014/main" id="{6C0A681B-44BF-6A46-98D8-483EF13B9114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65A5D7C-EB12-9D4D-A99A-4B26C81B7387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3" name="Straight Connector 59">
            <a:extLst>
              <a:ext uri="{FF2B5EF4-FFF2-40B4-BE49-F238E27FC236}">
                <a16:creationId xmlns:a16="http://schemas.microsoft.com/office/drawing/2014/main" id="{D4C3D74D-BE91-9547-ADCA-ACCE93C18789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Текст 37">
            <a:extLst>
              <a:ext uri="{FF2B5EF4-FFF2-40B4-BE49-F238E27FC236}">
                <a16:creationId xmlns:a16="http://schemas.microsoft.com/office/drawing/2014/main" id="{3E0AB43B-5E98-6042-A282-C61E0C5A37B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39">
            <a:extLst>
              <a:ext uri="{FF2B5EF4-FFF2-40B4-BE49-F238E27FC236}">
                <a16:creationId xmlns:a16="http://schemas.microsoft.com/office/drawing/2014/main" id="{7388A8DF-D130-5445-A3F8-F96E1202BA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Текст 39">
            <a:extLst>
              <a:ext uri="{FF2B5EF4-FFF2-40B4-BE49-F238E27FC236}">
                <a16:creationId xmlns:a16="http://schemas.microsoft.com/office/drawing/2014/main" id="{02CBC466-1703-7541-94E4-AC76F4E6D93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0" name="Текст 35">
            <a:extLst>
              <a:ext uri="{FF2B5EF4-FFF2-40B4-BE49-F238E27FC236}">
                <a16:creationId xmlns:a16="http://schemas.microsoft.com/office/drawing/2014/main" id="{5812BF3C-1D24-3640-84D2-BFFCA525AE5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5897" y="5183249"/>
            <a:ext cx="3934345" cy="553998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Примечания, или любая другая пояснительная или дополнительная информация набираются шрифтом размером 10 </a:t>
            </a:r>
            <a:r>
              <a:rPr lang="en-GB" sz="1000" dirty="0" err="1">
                <a:latin typeface="HSE Sans" panose="02000000000000000000" pitchFamily="2" charset="0"/>
              </a:rPr>
              <a:t>pt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1" name="Диаграмма 7">
            <a:extLst>
              <a:ext uri="{FF2B5EF4-FFF2-40B4-BE49-F238E27FC236}">
                <a16:creationId xmlns:a16="http://schemas.microsoft.com/office/drawing/2014/main" id="{BCBBDD44-9DC9-F74E-979F-120A7BBD4EE1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272097" y="1447790"/>
            <a:ext cx="6371768" cy="4289457"/>
          </a:xfrm>
        </p:spPr>
        <p:txBody>
          <a:bodyPr/>
          <a:lstStyle/>
          <a:p>
            <a:endParaRPr lang="ru-RU"/>
          </a:p>
        </p:txBody>
      </p:sp>
      <p:sp>
        <p:nvSpPr>
          <p:cNvPr id="23" name="Текст 22">
            <a:extLst>
              <a:ext uri="{FF2B5EF4-FFF2-40B4-BE49-F238E27FC236}">
                <a16:creationId xmlns:a16="http://schemas.microsoft.com/office/drawing/2014/main" id="{7C68DF7B-E804-E44B-83DF-5DC36AF76F4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85788" y="1447064"/>
            <a:ext cx="4322762" cy="703205"/>
          </a:xfrm>
        </p:spPr>
        <p:txBody>
          <a:bodyPr>
            <a:noAutofit/>
          </a:bodyPr>
          <a:lstStyle>
            <a:lvl1pPr marL="0" indent="0">
              <a:buNone/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600" dirty="0">
                <a:solidFill>
                  <a:srgbClr val="102D69"/>
                </a:solidFill>
                <a:latin typeface="HSE Sans" panose="02000000000000000000" pitchFamily="2" charset="0"/>
              </a:rPr>
              <a:t>Название графика. Обратите внимание, что название графика набирается меньшим кеглем, чем заголовок</a:t>
            </a:r>
            <a:r>
              <a:rPr lang="en-GB" sz="1600" dirty="0">
                <a:solidFill>
                  <a:srgbClr val="102D69"/>
                </a:solidFill>
                <a:latin typeface="HSE Sans" panose="02000000000000000000" pitchFamily="2" charset="0"/>
              </a:rPr>
              <a:t> (16pt)</a:t>
            </a:r>
            <a:endParaRPr lang="ru-RU" sz="16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8" name="Текст 35">
            <a:extLst>
              <a:ext uri="{FF2B5EF4-FFF2-40B4-BE49-F238E27FC236}">
                <a16:creationId xmlns:a16="http://schemas.microsoft.com/office/drawing/2014/main" id="{89E931D8-2901-A54D-86EA-096E47B8188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8" y="2379663"/>
            <a:ext cx="4322531" cy="239937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en-GB" sz="1300" dirty="0">
                <a:latin typeface="HSE Sans" panose="02000000000000000000" pitchFamily="2" charset="0"/>
              </a:rPr>
              <a:t>Lorem ipsum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sit </a:t>
            </a:r>
            <a:r>
              <a:rPr lang="en-GB" sz="1300" dirty="0" err="1">
                <a:latin typeface="HSE Sans" panose="02000000000000000000" pitchFamily="2" charset="0"/>
              </a:rPr>
              <a:t>amet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consectetur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adipiscing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elit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sed</a:t>
            </a:r>
            <a:r>
              <a:rPr lang="en-GB" sz="1300" dirty="0">
                <a:latin typeface="HSE Sans" panose="02000000000000000000" pitchFamily="2" charset="0"/>
              </a:rPr>
              <a:t> do </a:t>
            </a:r>
            <a:r>
              <a:rPr lang="en-GB" sz="1300" dirty="0" err="1">
                <a:latin typeface="HSE Sans" panose="02000000000000000000" pitchFamily="2" charset="0"/>
              </a:rPr>
              <a:t>eiusmod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tempor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incididunt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labore</a:t>
            </a:r>
            <a:r>
              <a:rPr lang="en-GB" sz="1300" dirty="0">
                <a:latin typeface="HSE Sans" panose="02000000000000000000" pitchFamily="2" charset="0"/>
              </a:rPr>
              <a:t> et dolore magna </a:t>
            </a:r>
            <a:r>
              <a:rPr lang="en-GB" sz="1300" dirty="0" err="1">
                <a:latin typeface="HSE Sans" panose="02000000000000000000" pitchFamily="2" charset="0"/>
              </a:rPr>
              <a:t>aliqua</a:t>
            </a:r>
            <a:r>
              <a:rPr lang="en-GB" sz="1300" dirty="0">
                <a:latin typeface="HSE Sans" panose="02000000000000000000" pitchFamily="2" charset="0"/>
              </a:rPr>
              <a:t>. Ut </a:t>
            </a:r>
            <a:r>
              <a:rPr lang="en-GB" sz="1300" dirty="0" err="1">
                <a:latin typeface="HSE Sans" panose="02000000000000000000" pitchFamily="2" charset="0"/>
              </a:rPr>
              <a:t>enim</a:t>
            </a:r>
            <a:r>
              <a:rPr lang="en-GB" sz="1300" dirty="0">
                <a:latin typeface="HSE Sans" panose="02000000000000000000" pitchFamily="2" charset="0"/>
              </a:rPr>
              <a:t> ad minim </a:t>
            </a:r>
            <a:r>
              <a:rPr lang="en-GB" sz="1300" dirty="0" err="1">
                <a:latin typeface="HSE Sans" panose="02000000000000000000" pitchFamily="2" charset="0"/>
              </a:rPr>
              <a:t>veniam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quis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nostrud</a:t>
            </a:r>
            <a:r>
              <a:rPr lang="en-GB" sz="1300" dirty="0">
                <a:latin typeface="HSE Sans" panose="02000000000000000000" pitchFamily="2" charset="0"/>
              </a:rPr>
              <a:t> exercitation </a:t>
            </a:r>
            <a:r>
              <a:rPr lang="en-GB" sz="1300" dirty="0" err="1">
                <a:latin typeface="HSE Sans" panose="02000000000000000000" pitchFamily="2" charset="0"/>
              </a:rPr>
              <a:t>ullamco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laboris</a:t>
            </a:r>
            <a:r>
              <a:rPr lang="en-GB" sz="1300" dirty="0">
                <a:latin typeface="HSE Sans" panose="02000000000000000000" pitchFamily="2" charset="0"/>
              </a:rPr>
              <a:t> nisi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aliquip</a:t>
            </a:r>
            <a:r>
              <a:rPr lang="en-GB" sz="1300" dirty="0">
                <a:latin typeface="HSE Sans" panose="02000000000000000000" pitchFamily="2" charset="0"/>
              </a:rPr>
              <a:t> ex </a:t>
            </a:r>
            <a:r>
              <a:rPr lang="en-GB" sz="1300" dirty="0" err="1">
                <a:latin typeface="HSE Sans" panose="02000000000000000000" pitchFamily="2" charset="0"/>
              </a:rPr>
              <a:t>ea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commodo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consequat</a:t>
            </a:r>
            <a:r>
              <a:rPr lang="en-GB" sz="1300" dirty="0">
                <a:latin typeface="HSE Sans" panose="02000000000000000000" pitchFamily="2" charset="0"/>
              </a:rPr>
              <a:t>. Duis </a:t>
            </a:r>
            <a:r>
              <a:rPr lang="en-GB" sz="1300" dirty="0" err="1">
                <a:latin typeface="HSE Sans" panose="02000000000000000000" pitchFamily="2" charset="0"/>
              </a:rPr>
              <a:t>aute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irure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reprehenderit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voluptate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velit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esse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cillum</a:t>
            </a:r>
            <a:r>
              <a:rPr lang="en-GB" sz="1300" dirty="0">
                <a:latin typeface="HSE Sans" panose="02000000000000000000" pitchFamily="2" charset="0"/>
              </a:rPr>
              <a:t> dolore </a:t>
            </a:r>
            <a:r>
              <a:rPr lang="en-GB" sz="1300" dirty="0" err="1">
                <a:latin typeface="HSE Sans" panose="02000000000000000000" pitchFamily="2" charset="0"/>
              </a:rPr>
              <a:t>eu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fugiat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nulla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pariatur</a:t>
            </a:r>
            <a:r>
              <a:rPr lang="en-GB" sz="1300" dirty="0">
                <a:latin typeface="HSE Sans" panose="02000000000000000000" pitchFamily="2" charset="0"/>
              </a:rPr>
              <a:t>. </a:t>
            </a:r>
            <a:r>
              <a:rPr lang="en-GB" sz="1300" dirty="0" err="1">
                <a:latin typeface="HSE Sans" panose="02000000000000000000" pitchFamily="2" charset="0"/>
              </a:rPr>
              <a:t>Excepteur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sint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occaecat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cupidatat</a:t>
            </a:r>
            <a:r>
              <a:rPr lang="en-GB" sz="1300" dirty="0">
                <a:latin typeface="HSE Sans" panose="02000000000000000000" pitchFamily="2" charset="0"/>
              </a:rPr>
              <a:t> non </a:t>
            </a:r>
            <a:r>
              <a:rPr lang="en-GB" sz="1300" dirty="0" err="1">
                <a:latin typeface="HSE Sans" panose="02000000000000000000" pitchFamily="2" charset="0"/>
              </a:rPr>
              <a:t>proident</a:t>
            </a:r>
            <a:r>
              <a:rPr lang="en-GB" sz="1300" dirty="0">
                <a:latin typeface="HSE Sans" panose="02000000000000000000" pitchFamily="2" charset="0"/>
              </a:rPr>
              <a:t>, sunt in culpa qui </a:t>
            </a:r>
            <a:r>
              <a:rPr lang="en-GB" sz="1300" dirty="0" err="1">
                <a:latin typeface="HSE Sans" panose="02000000000000000000" pitchFamily="2" charset="0"/>
              </a:rPr>
              <a:t>officia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deserunt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mollit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anim</a:t>
            </a:r>
            <a:r>
              <a:rPr lang="en-GB" sz="1300" dirty="0">
                <a:latin typeface="HSE Sans" panose="02000000000000000000" pitchFamily="2" charset="0"/>
              </a:rPr>
              <a:t> id </a:t>
            </a:r>
            <a:r>
              <a:rPr lang="en-GB" sz="1300" dirty="0" err="1">
                <a:latin typeface="HSE Sans" panose="02000000000000000000" pitchFamily="2" charset="0"/>
              </a:rPr>
              <a:t>est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laborum</a:t>
            </a:r>
            <a:r>
              <a:rPr lang="en-GB" sz="1300" dirty="0">
                <a:latin typeface="HSE Sans" panose="02000000000000000000" pitchFamily="2" charset="0"/>
              </a:rPr>
              <a:t>.</a:t>
            </a:r>
            <a:endParaRPr lang="ru-RU" sz="13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48898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Цифры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4" descr="Icon&#10;&#10;Description automatically generated">
            <a:extLst>
              <a:ext uri="{FF2B5EF4-FFF2-40B4-BE49-F238E27FC236}">
                <a16:creationId xmlns:a16="http://schemas.microsoft.com/office/drawing/2014/main" id="{E9A64721-E55E-8749-B29E-51DD8955936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7" name="Straight Connector 19">
            <a:extLst>
              <a:ext uri="{FF2B5EF4-FFF2-40B4-BE49-F238E27FC236}">
                <a16:creationId xmlns:a16="http://schemas.microsoft.com/office/drawing/2014/main" id="{B0C162B7-B84F-874A-960E-31F512518C6E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21">
            <a:extLst>
              <a:ext uri="{FF2B5EF4-FFF2-40B4-BE49-F238E27FC236}">
                <a16:creationId xmlns:a16="http://schemas.microsoft.com/office/drawing/2014/main" id="{1CB321BB-9FE3-294F-85D8-AA7DC75CA4AF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5">
            <a:extLst>
              <a:ext uri="{FF2B5EF4-FFF2-40B4-BE49-F238E27FC236}">
                <a16:creationId xmlns:a16="http://schemas.microsoft.com/office/drawing/2014/main" id="{0A610A45-8712-8A45-AFB3-931CF468EC32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30460EF6-ECAD-8941-8132-1B3E005D6067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1" name="Straight Connector 59">
            <a:extLst>
              <a:ext uri="{FF2B5EF4-FFF2-40B4-BE49-F238E27FC236}">
                <a16:creationId xmlns:a16="http://schemas.microsoft.com/office/drawing/2014/main" id="{41AE56A2-5FAA-FD44-AE1A-338E1E304184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Текст 37">
            <a:extLst>
              <a:ext uri="{FF2B5EF4-FFF2-40B4-BE49-F238E27FC236}">
                <a16:creationId xmlns:a16="http://schemas.microsoft.com/office/drawing/2014/main" id="{D9986185-6D5E-FD48-A5CA-AF2D5B58A3E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3" name="Текст 39">
            <a:extLst>
              <a:ext uri="{FF2B5EF4-FFF2-40B4-BE49-F238E27FC236}">
                <a16:creationId xmlns:a16="http://schemas.microsoft.com/office/drawing/2014/main" id="{5DBFD327-E3A8-944A-AABF-7D813AD0F13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39">
            <a:extLst>
              <a:ext uri="{FF2B5EF4-FFF2-40B4-BE49-F238E27FC236}">
                <a16:creationId xmlns:a16="http://schemas.microsoft.com/office/drawing/2014/main" id="{D206FCE0-05C3-2C45-A7D6-1FC287C017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Заголовок 31">
            <a:extLst>
              <a:ext uri="{FF2B5EF4-FFF2-40B4-BE49-F238E27FC236}">
                <a16:creationId xmlns:a16="http://schemas.microsoft.com/office/drawing/2014/main" id="{3B28B62E-5EE9-834C-9BB6-BD66079B81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7" y="1447790"/>
            <a:ext cx="11057955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 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4" name="Текст 35">
            <a:extLst>
              <a:ext uri="{FF2B5EF4-FFF2-40B4-BE49-F238E27FC236}">
                <a16:creationId xmlns:a16="http://schemas.microsoft.com/office/drawing/2014/main" id="{621215DE-C1FD-2B4C-B236-AF679CF906B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75076" y="4103994"/>
            <a:ext cx="2758143" cy="156966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300" dirty="0">
                <a:latin typeface="HSE Sans" panose="02000000000000000000" pitchFamily="2" charset="0"/>
              </a:rPr>
              <a:t>Если у вас мало данных, то не переживайте. Сделайте несколько крупных цифр и аккуратные подписи к ним, это позволит подать информацию красиво и аккуратно.</a:t>
            </a:r>
          </a:p>
        </p:txBody>
      </p:sp>
      <p:sp>
        <p:nvSpPr>
          <p:cNvPr id="25" name="Текст 35">
            <a:extLst>
              <a:ext uri="{FF2B5EF4-FFF2-40B4-BE49-F238E27FC236}">
                <a16:creationId xmlns:a16="http://schemas.microsoft.com/office/drawing/2014/main" id="{8BC2F90D-0CE0-574C-A7C1-EAA3E6F1AB5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47007" y="4103994"/>
            <a:ext cx="2757612" cy="156966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300" dirty="0">
                <a:latin typeface="HSE Sans" panose="02000000000000000000" pitchFamily="2" charset="0"/>
              </a:rPr>
              <a:t>Если у вас мало данных, то не переживайте. Сделайте несколько крупных цифр и аккуратные подписи к ним, это позволит подать информацию красиво и аккуратно.</a:t>
            </a:r>
          </a:p>
        </p:txBody>
      </p:sp>
      <p:sp>
        <p:nvSpPr>
          <p:cNvPr id="26" name="Текст 35">
            <a:extLst>
              <a:ext uri="{FF2B5EF4-FFF2-40B4-BE49-F238E27FC236}">
                <a16:creationId xmlns:a16="http://schemas.microsoft.com/office/drawing/2014/main" id="{239E188B-2696-8A48-9F8A-36223EEF61E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518938" y="4103994"/>
            <a:ext cx="2757612" cy="156966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300" dirty="0">
                <a:latin typeface="HSE Sans" panose="02000000000000000000" pitchFamily="2" charset="0"/>
              </a:rPr>
              <a:t>Если у вас мало данных, то не переживайте. Сделайте несколько крупных цифр и аккуратные подписи к ним, это позволит подать информацию красиво и аккуратно.</a:t>
            </a:r>
          </a:p>
        </p:txBody>
      </p:sp>
      <p:sp>
        <p:nvSpPr>
          <p:cNvPr id="28" name="Текст 27">
            <a:extLst>
              <a:ext uri="{FF2B5EF4-FFF2-40B4-BE49-F238E27FC236}">
                <a16:creationId xmlns:a16="http://schemas.microsoft.com/office/drawing/2014/main" id="{379BF4C6-F899-294C-B88E-8363AFBEEC2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75076" y="2710235"/>
            <a:ext cx="2758143" cy="1164116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9600">
                <a:latin typeface="HSE Sans" panose="02000000000000000000" pitchFamily="2" charset="0"/>
              </a:defRPr>
            </a:lvl1pPr>
            <a:lvl2pPr>
              <a:defRPr sz="9600">
                <a:latin typeface="HSE Sans" panose="02000000000000000000" pitchFamily="2" charset="0"/>
              </a:defRPr>
            </a:lvl2pPr>
            <a:lvl3pPr>
              <a:defRPr sz="9600">
                <a:latin typeface="HSE Sans" panose="02000000000000000000" pitchFamily="2" charset="0"/>
              </a:defRPr>
            </a:lvl3pPr>
            <a:lvl4pPr>
              <a:defRPr sz="9600">
                <a:latin typeface="HSE Sans" panose="02000000000000000000" pitchFamily="2" charset="0"/>
              </a:defRPr>
            </a:lvl4pPr>
            <a:lvl5pPr>
              <a:defRPr sz="9600">
                <a:latin typeface="HSE Sans" panose="02000000000000000000" pitchFamily="2" charset="0"/>
              </a:defRPr>
            </a:lvl5pPr>
          </a:lstStyle>
          <a:p>
            <a:pPr lvl="0"/>
            <a:r>
              <a:rPr lang="ru-RU" sz="9600" dirty="0">
                <a:solidFill>
                  <a:srgbClr val="102D69"/>
                </a:solidFill>
                <a:latin typeface="HSE Sans" panose="02000000000000000000" pitchFamily="2" charset="0"/>
              </a:rPr>
              <a:t>152</a:t>
            </a:r>
            <a:endParaRPr lang="ru-RU" dirty="0"/>
          </a:p>
        </p:txBody>
      </p:sp>
      <p:sp>
        <p:nvSpPr>
          <p:cNvPr id="29" name="Текст 27">
            <a:extLst>
              <a:ext uri="{FF2B5EF4-FFF2-40B4-BE49-F238E27FC236}">
                <a16:creationId xmlns:a16="http://schemas.microsoft.com/office/drawing/2014/main" id="{DE7F352B-F6D9-B545-A835-443A55956E7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047007" y="2710235"/>
            <a:ext cx="2758143" cy="1164116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9600">
                <a:latin typeface="HSE Sans" panose="02000000000000000000" pitchFamily="2" charset="0"/>
              </a:defRPr>
            </a:lvl1pPr>
            <a:lvl2pPr>
              <a:defRPr sz="9600">
                <a:latin typeface="HSE Sans" panose="02000000000000000000" pitchFamily="2" charset="0"/>
              </a:defRPr>
            </a:lvl2pPr>
            <a:lvl3pPr>
              <a:defRPr sz="9600">
                <a:latin typeface="HSE Sans" panose="02000000000000000000" pitchFamily="2" charset="0"/>
              </a:defRPr>
            </a:lvl3pPr>
            <a:lvl4pPr>
              <a:defRPr sz="9600">
                <a:latin typeface="HSE Sans" panose="02000000000000000000" pitchFamily="2" charset="0"/>
              </a:defRPr>
            </a:lvl4pPr>
            <a:lvl5pPr>
              <a:defRPr sz="9600">
                <a:latin typeface="HSE Sans" panose="02000000000000000000" pitchFamily="2" charset="0"/>
              </a:defRPr>
            </a:lvl5pPr>
          </a:lstStyle>
          <a:p>
            <a:pPr lvl="0"/>
            <a:r>
              <a:rPr lang="ru-RU" sz="9600" dirty="0">
                <a:solidFill>
                  <a:srgbClr val="102D69"/>
                </a:solidFill>
                <a:latin typeface="HSE Sans" panose="02000000000000000000" pitchFamily="2" charset="0"/>
              </a:rPr>
              <a:t>95</a:t>
            </a:r>
            <a:endParaRPr lang="ru-RU" dirty="0"/>
          </a:p>
        </p:txBody>
      </p:sp>
      <p:sp>
        <p:nvSpPr>
          <p:cNvPr id="30" name="Текст 27">
            <a:extLst>
              <a:ext uri="{FF2B5EF4-FFF2-40B4-BE49-F238E27FC236}">
                <a16:creationId xmlns:a16="http://schemas.microsoft.com/office/drawing/2014/main" id="{D1D5AF9F-C1B0-7842-8789-1DB8963D981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518938" y="2710235"/>
            <a:ext cx="2758143" cy="1164116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9600">
                <a:latin typeface="HSE Sans" panose="02000000000000000000" pitchFamily="2" charset="0"/>
              </a:defRPr>
            </a:lvl1pPr>
            <a:lvl2pPr>
              <a:defRPr sz="9600">
                <a:latin typeface="HSE Sans" panose="02000000000000000000" pitchFamily="2" charset="0"/>
              </a:defRPr>
            </a:lvl2pPr>
            <a:lvl3pPr>
              <a:defRPr sz="9600">
                <a:latin typeface="HSE Sans" panose="02000000000000000000" pitchFamily="2" charset="0"/>
              </a:defRPr>
            </a:lvl3pPr>
            <a:lvl4pPr>
              <a:defRPr sz="9600">
                <a:latin typeface="HSE Sans" panose="02000000000000000000" pitchFamily="2" charset="0"/>
              </a:defRPr>
            </a:lvl4pPr>
            <a:lvl5pPr>
              <a:defRPr sz="9600">
                <a:latin typeface="HSE Sans" panose="02000000000000000000" pitchFamily="2" charset="0"/>
              </a:defRPr>
            </a:lvl5pPr>
          </a:lstStyle>
          <a:p>
            <a:pPr lvl="0"/>
            <a:r>
              <a:rPr lang="ru-RU" sz="9600" dirty="0">
                <a:solidFill>
                  <a:srgbClr val="102D69"/>
                </a:solidFill>
                <a:latin typeface="HSE Sans" panose="02000000000000000000" pitchFamily="2" charset="0"/>
              </a:rPr>
              <a:t>284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570523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аблица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Icon&#10;&#10;Description automatically generated">
            <a:extLst>
              <a:ext uri="{FF2B5EF4-FFF2-40B4-BE49-F238E27FC236}">
                <a16:creationId xmlns:a16="http://schemas.microsoft.com/office/drawing/2014/main" id="{C5425806-16DD-844E-927C-26E7143A9ED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6" name="Straight Connector 19">
            <a:extLst>
              <a:ext uri="{FF2B5EF4-FFF2-40B4-BE49-F238E27FC236}">
                <a16:creationId xmlns:a16="http://schemas.microsoft.com/office/drawing/2014/main" id="{479746FF-3282-DF46-9D7C-D80431604A55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21">
            <a:extLst>
              <a:ext uri="{FF2B5EF4-FFF2-40B4-BE49-F238E27FC236}">
                <a16:creationId xmlns:a16="http://schemas.microsoft.com/office/drawing/2014/main" id="{51B44297-B0E7-D74D-B291-D39A0D468B42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25">
            <a:extLst>
              <a:ext uri="{FF2B5EF4-FFF2-40B4-BE49-F238E27FC236}">
                <a16:creationId xmlns:a16="http://schemas.microsoft.com/office/drawing/2014/main" id="{0EA4A057-F0CB-E04F-B472-4A1ABFB64C66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764502F5-56EE-354B-A3B1-E79F8B005172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0" name="Straight Connector 59">
            <a:extLst>
              <a:ext uri="{FF2B5EF4-FFF2-40B4-BE49-F238E27FC236}">
                <a16:creationId xmlns:a16="http://schemas.microsoft.com/office/drawing/2014/main" id="{A80E0956-5C10-CC40-A426-CBD2E0C4158E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Текст 37">
            <a:extLst>
              <a:ext uri="{FF2B5EF4-FFF2-40B4-BE49-F238E27FC236}">
                <a16:creationId xmlns:a16="http://schemas.microsoft.com/office/drawing/2014/main" id="{6EC59AAD-5962-8D49-BF4D-7DA5D573073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2" name="Текст 39">
            <a:extLst>
              <a:ext uri="{FF2B5EF4-FFF2-40B4-BE49-F238E27FC236}">
                <a16:creationId xmlns:a16="http://schemas.microsoft.com/office/drawing/2014/main" id="{49041ACC-EEF4-D34B-A7DE-87B1AF2ED38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BF93B2CC-81A4-0943-AF6C-C8657679299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22">
            <a:extLst>
              <a:ext uri="{FF2B5EF4-FFF2-40B4-BE49-F238E27FC236}">
                <a16:creationId xmlns:a16="http://schemas.microsoft.com/office/drawing/2014/main" id="{51340CB4-0355-3640-A212-F684523CDCC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85787" y="1447065"/>
            <a:ext cx="11058065" cy="307778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600" dirty="0">
                <a:solidFill>
                  <a:srgbClr val="102D69"/>
                </a:solidFill>
                <a:latin typeface="HSE Sans" panose="02000000000000000000" pitchFamily="2" charset="0"/>
              </a:rPr>
              <a:t>Название таблицы. Обратите внимание, что название графика набирается меньшим кеглем, чем заголовок (16</a:t>
            </a:r>
            <a:r>
              <a:rPr lang="en-GB" sz="16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16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16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8C6F2EA4-CEDC-324C-9C06-8713118041E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85788" y="5739189"/>
            <a:ext cx="6824303" cy="703205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300" b="0" dirty="0">
                <a:ln>
                  <a:noFill/>
                </a:ln>
                <a:latin typeface="HSE Sans" panose="02000000000000000000" pitchFamily="2" charset="0"/>
              </a:rPr>
              <a:t>Мы рекомендуем очень аккуратно использовать жирное начертание, старайтесь выделять жирным самое важное. </a:t>
            </a:r>
            <a:r>
              <a:rPr lang="ru-RU" sz="1300" dirty="0">
                <a:latin typeface="HSE Sans" panose="02000000000000000000" pitchFamily="2" charset="0"/>
              </a:rPr>
              <a:t>Также старайтесь не использовать выделение жирным начертанием вместе с заливкой ячеек каким-либо цветом, достаточно и одного акцента.</a:t>
            </a:r>
            <a:endParaRPr lang="en-RU" sz="1300" b="0">
              <a:ln>
                <a:noFill/>
              </a:ln>
              <a:latin typeface="HSE Sans" panose="02000000000000000000" pitchFamily="2" charset="0"/>
            </a:endParaRPr>
          </a:p>
        </p:txBody>
      </p:sp>
      <p:sp>
        <p:nvSpPr>
          <p:cNvPr id="19" name="Таблица 18">
            <a:extLst>
              <a:ext uri="{FF2B5EF4-FFF2-40B4-BE49-F238E27FC236}">
                <a16:creationId xmlns:a16="http://schemas.microsoft.com/office/drawing/2014/main" id="{7B291085-A9B9-D842-B1A7-96258FAF012C}"/>
              </a:ext>
            </a:extLst>
          </p:cNvPr>
          <p:cNvSpPr>
            <a:spLocks noGrp="1"/>
          </p:cNvSpPr>
          <p:nvPr>
            <p:ph type="tbl" sz="quarter" idx="19"/>
          </p:nvPr>
        </p:nvSpPr>
        <p:spPr>
          <a:xfrm>
            <a:off x="585787" y="1984076"/>
            <a:ext cx="11058527" cy="3519576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401603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аблица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Icon&#10;&#10;Description automatically generated">
            <a:extLst>
              <a:ext uri="{FF2B5EF4-FFF2-40B4-BE49-F238E27FC236}">
                <a16:creationId xmlns:a16="http://schemas.microsoft.com/office/drawing/2014/main" id="{259ABC72-D738-1143-BF2A-D85AE9A4F73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9" name="Straight Connector 19">
            <a:extLst>
              <a:ext uri="{FF2B5EF4-FFF2-40B4-BE49-F238E27FC236}">
                <a16:creationId xmlns:a16="http://schemas.microsoft.com/office/drawing/2014/main" id="{237A1E42-2FC3-8841-8C41-992C5BC2368D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1">
            <a:extLst>
              <a:ext uri="{FF2B5EF4-FFF2-40B4-BE49-F238E27FC236}">
                <a16:creationId xmlns:a16="http://schemas.microsoft.com/office/drawing/2014/main" id="{47503EA0-3883-E24D-9EB8-7B6175182929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25">
            <a:extLst>
              <a:ext uri="{FF2B5EF4-FFF2-40B4-BE49-F238E27FC236}">
                <a16:creationId xmlns:a16="http://schemas.microsoft.com/office/drawing/2014/main" id="{E0144DF2-9891-324D-B34E-AFA025FBCBF9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F33F65D6-1072-F140-B6A5-758D7B595A92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3" name="Straight Connector 59">
            <a:extLst>
              <a:ext uri="{FF2B5EF4-FFF2-40B4-BE49-F238E27FC236}">
                <a16:creationId xmlns:a16="http://schemas.microsoft.com/office/drawing/2014/main" id="{5F1F09D4-22FA-7B4B-9488-F8FDDCC2D447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Текст 37">
            <a:extLst>
              <a:ext uri="{FF2B5EF4-FFF2-40B4-BE49-F238E27FC236}">
                <a16:creationId xmlns:a16="http://schemas.microsoft.com/office/drawing/2014/main" id="{44D0326E-FD7A-3541-A998-62A1C30E27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39">
            <a:extLst>
              <a:ext uri="{FF2B5EF4-FFF2-40B4-BE49-F238E27FC236}">
                <a16:creationId xmlns:a16="http://schemas.microsoft.com/office/drawing/2014/main" id="{279CCCA0-F959-5245-8321-106D3C5E837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Текст 39">
            <a:extLst>
              <a:ext uri="{FF2B5EF4-FFF2-40B4-BE49-F238E27FC236}">
                <a16:creationId xmlns:a16="http://schemas.microsoft.com/office/drawing/2014/main" id="{8B839C6B-8494-8841-9714-4C8F710F84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8" name="Текст 22">
            <a:extLst>
              <a:ext uri="{FF2B5EF4-FFF2-40B4-BE49-F238E27FC236}">
                <a16:creationId xmlns:a16="http://schemas.microsoft.com/office/drawing/2014/main" id="{4D940599-2B77-CE47-91E6-CDB51ADE184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85787" y="1447064"/>
            <a:ext cx="7617877" cy="537011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600" dirty="0">
                <a:solidFill>
                  <a:srgbClr val="102D69"/>
                </a:solidFill>
                <a:latin typeface="HSE Sans" panose="02000000000000000000" pitchFamily="2" charset="0"/>
              </a:rPr>
              <a:t>Название таблицы. Обратите внимание, что название графика набирается меньшим кеглем, чем заголовок (16</a:t>
            </a:r>
            <a:r>
              <a:rPr lang="en-GB" sz="16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16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16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19" name="Текст 16">
            <a:extLst>
              <a:ext uri="{FF2B5EF4-FFF2-40B4-BE49-F238E27FC236}">
                <a16:creationId xmlns:a16="http://schemas.microsoft.com/office/drawing/2014/main" id="{A7333712-9DED-4F4B-B209-2F13075EDB3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85788" y="5739189"/>
            <a:ext cx="6824303" cy="703205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300" b="0" dirty="0">
                <a:ln>
                  <a:noFill/>
                </a:ln>
                <a:latin typeface="HSE Sans" panose="02000000000000000000" pitchFamily="2" charset="0"/>
              </a:rPr>
              <a:t>Мы рекомендуем очень аккуратно использовать жирное начертание, старайтесь выделять жирным самое важное. </a:t>
            </a:r>
            <a:r>
              <a:rPr lang="ru-RU" sz="1300" dirty="0">
                <a:latin typeface="HSE Sans" panose="02000000000000000000" pitchFamily="2" charset="0"/>
              </a:rPr>
              <a:t>Также старайтесь не использовать выделение жирным начертанием вместе с заливкой ячеек каким-либо цветом, достаточно и одного акцента.</a:t>
            </a:r>
            <a:endParaRPr lang="en-RU" sz="1300" b="0">
              <a:ln>
                <a:noFill/>
              </a:ln>
              <a:latin typeface="HSE Sans" panose="02000000000000000000" pitchFamily="2" charset="0"/>
            </a:endParaRPr>
          </a:p>
        </p:txBody>
      </p:sp>
      <p:sp>
        <p:nvSpPr>
          <p:cNvPr id="20" name="Таблица 18">
            <a:extLst>
              <a:ext uri="{FF2B5EF4-FFF2-40B4-BE49-F238E27FC236}">
                <a16:creationId xmlns:a16="http://schemas.microsoft.com/office/drawing/2014/main" id="{DD467C42-8209-B740-8419-DBB6A6F7D5EE}"/>
              </a:ext>
            </a:extLst>
          </p:cNvPr>
          <p:cNvSpPr>
            <a:spLocks noGrp="1"/>
          </p:cNvSpPr>
          <p:nvPr>
            <p:ph type="tbl" sz="quarter" idx="19"/>
          </p:nvPr>
        </p:nvSpPr>
        <p:spPr>
          <a:xfrm>
            <a:off x="585787" y="2208362"/>
            <a:ext cx="7617895" cy="3295290"/>
          </a:xfrm>
        </p:spPr>
        <p:txBody>
          <a:bodyPr/>
          <a:lstStyle/>
          <a:p>
            <a:endParaRPr lang="ru-RU"/>
          </a:p>
        </p:txBody>
      </p:sp>
      <p:sp>
        <p:nvSpPr>
          <p:cNvPr id="21" name="Текст 35">
            <a:extLst>
              <a:ext uri="{FF2B5EF4-FFF2-40B4-BE49-F238E27FC236}">
                <a16:creationId xmlns:a16="http://schemas.microsoft.com/office/drawing/2014/main" id="{B4309850-76EA-224C-A9E2-B6BBDBF99DE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686807" y="2208363"/>
            <a:ext cx="2930666" cy="2570672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en-GB" sz="1300" dirty="0">
                <a:latin typeface="HSE Sans" panose="02000000000000000000" pitchFamily="2" charset="0"/>
              </a:rPr>
              <a:t>Lorem ipsum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sit </a:t>
            </a:r>
            <a:r>
              <a:rPr lang="en-GB" sz="1300" dirty="0" err="1">
                <a:latin typeface="HSE Sans" panose="02000000000000000000" pitchFamily="2" charset="0"/>
              </a:rPr>
              <a:t>amet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consectetur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adipiscing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elit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sed</a:t>
            </a:r>
            <a:r>
              <a:rPr lang="en-GB" sz="1300" dirty="0">
                <a:latin typeface="HSE Sans" panose="02000000000000000000" pitchFamily="2" charset="0"/>
              </a:rPr>
              <a:t> do </a:t>
            </a:r>
            <a:r>
              <a:rPr lang="en-GB" sz="1300" dirty="0" err="1">
                <a:latin typeface="HSE Sans" panose="02000000000000000000" pitchFamily="2" charset="0"/>
              </a:rPr>
              <a:t>eiusmod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tempor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incididunt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labore</a:t>
            </a:r>
            <a:r>
              <a:rPr lang="en-GB" sz="1300" dirty="0">
                <a:latin typeface="HSE Sans" panose="02000000000000000000" pitchFamily="2" charset="0"/>
              </a:rPr>
              <a:t> et dolore magna </a:t>
            </a:r>
            <a:r>
              <a:rPr lang="en-GB" sz="1300" dirty="0" err="1">
                <a:latin typeface="HSE Sans" panose="02000000000000000000" pitchFamily="2" charset="0"/>
              </a:rPr>
              <a:t>aliqua</a:t>
            </a:r>
            <a:r>
              <a:rPr lang="en-GB" sz="1300" dirty="0">
                <a:latin typeface="HSE Sans" panose="02000000000000000000" pitchFamily="2" charset="0"/>
              </a:rPr>
              <a:t>. Ut </a:t>
            </a:r>
            <a:r>
              <a:rPr lang="en-GB" sz="1300" dirty="0" err="1">
                <a:latin typeface="HSE Sans" panose="02000000000000000000" pitchFamily="2" charset="0"/>
              </a:rPr>
              <a:t>enim</a:t>
            </a:r>
            <a:r>
              <a:rPr lang="en-GB" sz="1300" dirty="0">
                <a:latin typeface="HSE Sans" panose="02000000000000000000" pitchFamily="2" charset="0"/>
              </a:rPr>
              <a:t> ad minim </a:t>
            </a:r>
            <a:r>
              <a:rPr lang="en-GB" sz="1300" dirty="0" err="1">
                <a:latin typeface="HSE Sans" panose="02000000000000000000" pitchFamily="2" charset="0"/>
              </a:rPr>
              <a:t>veniam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quis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nostrud</a:t>
            </a:r>
            <a:r>
              <a:rPr lang="en-GB" sz="1300" dirty="0">
                <a:latin typeface="HSE Sans" panose="02000000000000000000" pitchFamily="2" charset="0"/>
              </a:rPr>
              <a:t> exercitation </a:t>
            </a:r>
            <a:r>
              <a:rPr lang="en-GB" sz="1300" dirty="0" err="1">
                <a:latin typeface="HSE Sans" panose="02000000000000000000" pitchFamily="2" charset="0"/>
              </a:rPr>
              <a:t>ullamco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laboris</a:t>
            </a:r>
            <a:r>
              <a:rPr lang="en-GB" sz="1300" dirty="0">
                <a:latin typeface="HSE Sans" panose="02000000000000000000" pitchFamily="2" charset="0"/>
              </a:rPr>
              <a:t> nisi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aliquip</a:t>
            </a:r>
            <a:r>
              <a:rPr lang="en-GB" sz="1300" dirty="0">
                <a:latin typeface="HSE Sans" panose="02000000000000000000" pitchFamily="2" charset="0"/>
              </a:rPr>
              <a:t> ex </a:t>
            </a:r>
            <a:r>
              <a:rPr lang="en-GB" sz="1300" dirty="0" err="1">
                <a:latin typeface="HSE Sans" panose="02000000000000000000" pitchFamily="2" charset="0"/>
              </a:rPr>
              <a:t>ea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commodo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consequat</a:t>
            </a:r>
            <a:r>
              <a:rPr lang="en-GB" sz="1300" dirty="0">
                <a:latin typeface="HSE Sans" panose="02000000000000000000" pitchFamily="2" charset="0"/>
              </a:rPr>
              <a:t>. Duis </a:t>
            </a:r>
            <a:r>
              <a:rPr lang="en-GB" sz="1300" dirty="0" err="1">
                <a:latin typeface="HSE Sans" panose="02000000000000000000" pitchFamily="2" charset="0"/>
              </a:rPr>
              <a:t>aute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irure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reprehenderit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voluptate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velit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esse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cillum</a:t>
            </a:r>
            <a:r>
              <a:rPr lang="en-GB" sz="1300" dirty="0">
                <a:latin typeface="HSE Sans" panose="02000000000000000000" pitchFamily="2" charset="0"/>
              </a:rPr>
              <a:t> dolore </a:t>
            </a:r>
            <a:r>
              <a:rPr lang="en-GB" sz="1300" dirty="0" err="1">
                <a:latin typeface="HSE Sans" panose="02000000000000000000" pitchFamily="2" charset="0"/>
              </a:rPr>
              <a:t>eu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fugiat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nulla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pariatur</a:t>
            </a:r>
            <a:r>
              <a:rPr lang="en-GB" sz="1300" dirty="0">
                <a:latin typeface="HSE Sans" panose="02000000000000000000" pitchFamily="2" charset="0"/>
              </a:rPr>
              <a:t>. </a:t>
            </a:r>
            <a:r>
              <a:rPr lang="en-GB" sz="1300" dirty="0" err="1">
                <a:latin typeface="HSE Sans" panose="02000000000000000000" pitchFamily="2" charset="0"/>
              </a:rPr>
              <a:t>Excepteur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sint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occaecat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cupidatat</a:t>
            </a:r>
            <a:r>
              <a:rPr lang="en-GB" sz="1300" dirty="0">
                <a:latin typeface="HSE Sans" panose="02000000000000000000" pitchFamily="2" charset="0"/>
              </a:rPr>
              <a:t> non </a:t>
            </a:r>
            <a:r>
              <a:rPr lang="en-GB" sz="1300" dirty="0" err="1">
                <a:latin typeface="HSE Sans" panose="02000000000000000000" pitchFamily="2" charset="0"/>
              </a:rPr>
              <a:t>proident</a:t>
            </a:r>
            <a:r>
              <a:rPr lang="en-GB" sz="1300" dirty="0">
                <a:latin typeface="HSE Sans" panose="02000000000000000000" pitchFamily="2" charset="0"/>
              </a:rPr>
              <a:t>, sunt in culpa qui </a:t>
            </a:r>
            <a:r>
              <a:rPr lang="en-GB" sz="1300" dirty="0" err="1">
                <a:latin typeface="HSE Sans" panose="02000000000000000000" pitchFamily="2" charset="0"/>
              </a:rPr>
              <a:t>officia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deserunt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mollit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anim</a:t>
            </a:r>
            <a:r>
              <a:rPr lang="en-GB" sz="1300" dirty="0">
                <a:latin typeface="HSE Sans" panose="02000000000000000000" pitchFamily="2" charset="0"/>
              </a:rPr>
              <a:t> id </a:t>
            </a:r>
            <a:r>
              <a:rPr lang="en-GB" sz="1300" dirty="0" err="1">
                <a:latin typeface="HSE Sans" panose="02000000000000000000" pitchFamily="2" charset="0"/>
              </a:rPr>
              <a:t>est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laborum</a:t>
            </a:r>
            <a:r>
              <a:rPr lang="en-GB" sz="1300" dirty="0">
                <a:latin typeface="HSE Sans" panose="02000000000000000000" pitchFamily="2" charset="0"/>
              </a:rPr>
              <a:t>.</a:t>
            </a:r>
            <a:endParaRPr lang="ru-RU" sz="13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6771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цв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 descr="Icon&#10;&#10;Description automatically generated">
            <a:extLst>
              <a:ext uri="{FF2B5EF4-FFF2-40B4-BE49-F238E27FC236}">
                <a16:creationId xmlns:a16="http://schemas.microsoft.com/office/drawing/2014/main" id="{9328428E-0D3D-6E4B-BAC0-3F63BAF7DB7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8" name="Straight Connector 19">
            <a:extLst>
              <a:ext uri="{FF2B5EF4-FFF2-40B4-BE49-F238E27FC236}">
                <a16:creationId xmlns:a16="http://schemas.microsoft.com/office/drawing/2014/main" id="{86CF47C6-D972-9E44-A717-6848F3489399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1">
            <a:extLst>
              <a:ext uri="{FF2B5EF4-FFF2-40B4-BE49-F238E27FC236}">
                <a16:creationId xmlns:a16="http://schemas.microsoft.com/office/drawing/2014/main" id="{412FEF63-77C0-7C4A-B9BE-4BC0EEEEB78C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5">
            <a:extLst>
              <a:ext uri="{FF2B5EF4-FFF2-40B4-BE49-F238E27FC236}">
                <a16:creationId xmlns:a16="http://schemas.microsoft.com/office/drawing/2014/main" id="{C4F550E9-E979-284D-B65F-44E092DD9D02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A39D099-B515-F343-BF7A-A95468DA3860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2" name="Straight Connector 59">
            <a:extLst>
              <a:ext uri="{FF2B5EF4-FFF2-40B4-BE49-F238E27FC236}">
                <a16:creationId xmlns:a16="http://schemas.microsoft.com/office/drawing/2014/main" id="{396B1F99-9711-C64F-A7C9-4F1D89E7F11D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Текст 37">
            <a:extLst>
              <a:ext uri="{FF2B5EF4-FFF2-40B4-BE49-F238E27FC236}">
                <a16:creationId xmlns:a16="http://schemas.microsoft.com/office/drawing/2014/main" id="{9C21DFE9-C3B2-C54E-9275-7776355F73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5A73F99D-6D58-724E-ADB3-150D9B24F8C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6" name="Текст 39">
            <a:extLst>
              <a:ext uri="{FF2B5EF4-FFF2-40B4-BE49-F238E27FC236}">
                <a16:creationId xmlns:a16="http://schemas.microsoft.com/office/drawing/2014/main" id="{7E89E360-BE39-5041-BAD6-C7B708340AA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9" name="Заголовок 31">
            <a:extLst>
              <a:ext uri="{FF2B5EF4-FFF2-40B4-BE49-F238E27FC236}">
                <a16:creationId xmlns:a16="http://schemas.microsoft.com/office/drawing/2014/main" id="{1C20890C-BC1C-0745-9AF3-46700BA27C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9" y="1447790"/>
            <a:ext cx="4322530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Дополнительная </a:t>
            </a:r>
            <a:b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цветовая гамма</a:t>
            </a:r>
          </a:p>
        </p:txBody>
      </p:sp>
      <p:sp>
        <p:nvSpPr>
          <p:cNvPr id="20" name="Текст 35">
            <a:extLst>
              <a:ext uri="{FF2B5EF4-FFF2-40B4-BE49-F238E27FC236}">
                <a16:creationId xmlns:a16="http://schemas.microsoft.com/office/drawing/2014/main" id="{CA2589F7-4500-024F-8E07-D726629A599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8" y="2379663"/>
            <a:ext cx="4322531" cy="239937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300" dirty="0">
                <a:latin typeface="HSE Sans" panose="02000000000000000000" pitchFamily="2" charset="0"/>
              </a:rPr>
              <a:t>Для оформления графиков, таблиц, диаграмм могут потребоваться дополнительные цвета и вы совершенно правы, задавая вопрос, какие цвета использовать и где их взять. Мы предлагаем использовать палитру цветов Вышки для этих целей.</a:t>
            </a:r>
          </a:p>
        </p:txBody>
      </p:sp>
      <p:sp>
        <p:nvSpPr>
          <p:cNvPr id="21" name="Oval 5">
            <a:extLst>
              <a:ext uri="{FF2B5EF4-FFF2-40B4-BE49-F238E27FC236}">
                <a16:creationId xmlns:a16="http://schemas.microsoft.com/office/drawing/2014/main" id="{D2CA403A-98E7-6C42-8F44-30AB6622C802}"/>
              </a:ext>
            </a:extLst>
          </p:cNvPr>
          <p:cNvSpPr/>
          <p:nvPr userDrawn="1"/>
        </p:nvSpPr>
        <p:spPr>
          <a:xfrm>
            <a:off x="5392982" y="1447790"/>
            <a:ext cx="830997" cy="830997"/>
          </a:xfrm>
          <a:prstGeom prst="ellipse">
            <a:avLst/>
          </a:prstGeom>
          <a:solidFill>
            <a:srgbClr val="0E2D69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2" name="Oval 20">
            <a:extLst>
              <a:ext uri="{FF2B5EF4-FFF2-40B4-BE49-F238E27FC236}">
                <a16:creationId xmlns:a16="http://schemas.microsoft.com/office/drawing/2014/main" id="{42ABAA5D-E7AB-6E48-9D43-A48178C9BDD4}"/>
              </a:ext>
            </a:extLst>
          </p:cNvPr>
          <p:cNvSpPr/>
          <p:nvPr userDrawn="1"/>
        </p:nvSpPr>
        <p:spPr>
          <a:xfrm>
            <a:off x="6742925" y="1447790"/>
            <a:ext cx="830997" cy="830997"/>
          </a:xfrm>
          <a:prstGeom prst="ellipse">
            <a:avLst/>
          </a:prstGeom>
          <a:solidFill>
            <a:srgbClr val="234A9B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209F185A-8F67-9C42-A7C5-87E483F4FC19}"/>
              </a:ext>
            </a:extLst>
          </p:cNvPr>
          <p:cNvSpPr/>
          <p:nvPr userDrawn="1"/>
        </p:nvSpPr>
        <p:spPr>
          <a:xfrm>
            <a:off x="8092868" y="1447790"/>
            <a:ext cx="830997" cy="830997"/>
          </a:xfrm>
          <a:prstGeom prst="ellipse">
            <a:avLst/>
          </a:prstGeom>
          <a:solidFill>
            <a:srgbClr val="11A0D7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79AE0F6-4E37-6C4D-AF45-824EEE489A15}"/>
              </a:ext>
            </a:extLst>
          </p:cNvPr>
          <p:cNvSpPr/>
          <p:nvPr userDrawn="1"/>
        </p:nvSpPr>
        <p:spPr>
          <a:xfrm>
            <a:off x="9442811" y="1447790"/>
            <a:ext cx="830997" cy="830997"/>
          </a:xfrm>
          <a:prstGeom prst="ellipse">
            <a:avLst/>
          </a:prstGeom>
          <a:solidFill>
            <a:srgbClr val="029C63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5" name="Oval 26">
            <a:extLst>
              <a:ext uri="{FF2B5EF4-FFF2-40B4-BE49-F238E27FC236}">
                <a16:creationId xmlns:a16="http://schemas.microsoft.com/office/drawing/2014/main" id="{330C0EA4-7FD1-CE4D-AC95-8C484C5AC790}"/>
              </a:ext>
            </a:extLst>
          </p:cNvPr>
          <p:cNvSpPr/>
          <p:nvPr userDrawn="1"/>
        </p:nvSpPr>
        <p:spPr>
          <a:xfrm>
            <a:off x="10792754" y="1447790"/>
            <a:ext cx="830997" cy="830997"/>
          </a:xfrm>
          <a:prstGeom prst="ellipse">
            <a:avLst/>
          </a:prstGeom>
          <a:solidFill>
            <a:srgbClr val="EB681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6" name="Oval 29">
            <a:extLst>
              <a:ext uri="{FF2B5EF4-FFF2-40B4-BE49-F238E27FC236}">
                <a16:creationId xmlns:a16="http://schemas.microsoft.com/office/drawing/2014/main" id="{4C53CF3D-7EFB-DF4F-8EA6-5644574E9AFB}"/>
              </a:ext>
            </a:extLst>
          </p:cNvPr>
          <p:cNvSpPr/>
          <p:nvPr userDrawn="1"/>
        </p:nvSpPr>
        <p:spPr>
          <a:xfrm>
            <a:off x="5392982" y="2708699"/>
            <a:ext cx="830997" cy="830997"/>
          </a:xfrm>
          <a:prstGeom prst="ellipse">
            <a:avLst/>
          </a:prstGeom>
          <a:solidFill>
            <a:srgbClr val="7D4EBA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7" name="Oval 33">
            <a:extLst>
              <a:ext uri="{FF2B5EF4-FFF2-40B4-BE49-F238E27FC236}">
                <a16:creationId xmlns:a16="http://schemas.microsoft.com/office/drawing/2014/main" id="{B42CE88A-E9A3-2A4E-BD50-EB37311F39EC}"/>
              </a:ext>
            </a:extLst>
          </p:cNvPr>
          <p:cNvSpPr/>
          <p:nvPr userDrawn="1"/>
        </p:nvSpPr>
        <p:spPr>
          <a:xfrm>
            <a:off x="6742925" y="2708699"/>
            <a:ext cx="830997" cy="830997"/>
          </a:xfrm>
          <a:prstGeom prst="ellipse">
            <a:avLst/>
          </a:prstGeom>
          <a:solidFill>
            <a:srgbClr val="E61F3D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8" name="Oval 34">
            <a:extLst>
              <a:ext uri="{FF2B5EF4-FFF2-40B4-BE49-F238E27FC236}">
                <a16:creationId xmlns:a16="http://schemas.microsoft.com/office/drawing/2014/main" id="{B699EFDF-DB9D-3C4F-9D1F-461508017BDA}"/>
              </a:ext>
            </a:extLst>
          </p:cNvPr>
          <p:cNvSpPr/>
          <p:nvPr userDrawn="1"/>
        </p:nvSpPr>
        <p:spPr>
          <a:xfrm>
            <a:off x="8092868" y="2708699"/>
            <a:ext cx="830997" cy="830997"/>
          </a:xfrm>
          <a:prstGeom prst="ellipse">
            <a:avLst/>
          </a:prstGeom>
          <a:solidFill>
            <a:srgbClr val="FBBA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9" name="Oval 35">
            <a:extLst>
              <a:ext uri="{FF2B5EF4-FFF2-40B4-BE49-F238E27FC236}">
                <a16:creationId xmlns:a16="http://schemas.microsoft.com/office/drawing/2014/main" id="{5DF3131C-EEA1-5446-B567-C9DA0A2A1AFF}"/>
              </a:ext>
            </a:extLst>
          </p:cNvPr>
          <p:cNvSpPr/>
          <p:nvPr userDrawn="1"/>
        </p:nvSpPr>
        <p:spPr>
          <a:xfrm>
            <a:off x="9442811" y="2708699"/>
            <a:ext cx="830997" cy="830997"/>
          </a:xfrm>
          <a:prstGeom prst="ellipse">
            <a:avLst/>
          </a:prstGeom>
          <a:solidFill>
            <a:srgbClr val="7DA0D3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0" name="Oval 36">
            <a:extLst>
              <a:ext uri="{FF2B5EF4-FFF2-40B4-BE49-F238E27FC236}">
                <a16:creationId xmlns:a16="http://schemas.microsoft.com/office/drawing/2014/main" id="{6D03B317-B61D-2945-8C0A-A6EBD87ACD07}"/>
              </a:ext>
            </a:extLst>
          </p:cNvPr>
          <p:cNvSpPr/>
          <p:nvPr userDrawn="1"/>
        </p:nvSpPr>
        <p:spPr>
          <a:xfrm>
            <a:off x="10792754" y="2708699"/>
            <a:ext cx="830997" cy="830997"/>
          </a:xfrm>
          <a:prstGeom prst="ellipse">
            <a:avLst/>
          </a:prstGeom>
          <a:solidFill>
            <a:srgbClr val="47A0A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1" name="Oval 37">
            <a:extLst>
              <a:ext uri="{FF2B5EF4-FFF2-40B4-BE49-F238E27FC236}">
                <a16:creationId xmlns:a16="http://schemas.microsoft.com/office/drawing/2014/main" id="{9C0266F1-C0B7-624A-A873-5F2C8801E766}"/>
              </a:ext>
            </a:extLst>
          </p:cNvPr>
          <p:cNvSpPr/>
          <p:nvPr userDrawn="1"/>
        </p:nvSpPr>
        <p:spPr>
          <a:xfrm>
            <a:off x="5392982" y="3969609"/>
            <a:ext cx="830997" cy="830997"/>
          </a:xfrm>
          <a:prstGeom prst="ellipse">
            <a:avLst/>
          </a:prstGeom>
          <a:solidFill>
            <a:srgbClr val="EB8C3C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2" name="Oval 38">
            <a:extLst>
              <a:ext uri="{FF2B5EF4-FFF2-40B4-BE49-F238E27FC236}">
                <a16:creationId xmlns:a16="http://schemas.microsoft.com/office/drawing/2014/main" id="{30C0C10E-388C-9843-8270-19D471BD3756}"/>
              </a:ext>
            </a:extLst>
          </p:cNvPr>
          <p:cNvSpPr/>
          <p:nvPr userDrawn="1"/>
        </p:nvSpPr>
        <p:spPr>
          <a:xfrm>
            <a:off x="6742925" y="3969609"/>
            <a:ext cx="830997" cy="830997"/>
          </a:xfrm>
          <a:prstGeom prst="ellipse">
            <a:avLst/>
          </a:prstGeom>
          <a:solidFill>
            <a:srgbClr val="96628C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3" name="Oval 39">
            <a:extLst>
              <a:ext uri="{FF2B5EF4-FFF2-40B4-BE49-F238E27FC236}">
                <a16:creationId xmlns:a16="http://schemas.microsoft.com/office/drawing/2014/main" id="{87047EA3-79D2-8644-A568-E64AA1D7D370}"/>
              </a:ext>
            </a:extLst>
          </p:cNvPr>
          <p:cNvSpPr/>
          <p:nvPr userDrawn="1"/>
        </p:nvSpPr>
        <p:spPr>
          <a:xfrm>
            <a:off x="8092868" y="3969609"/>
            <a:ext cx="830997" cy="830997"/>
          </a:xfrm>
          <a:prstGeom prst="ellipse">
            <a:avLst/>
          </a:prstGeom>
          <a:solidFill>
            <a:srgbClr val="CD5A5A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4" name="Oval 40">
            <a:extLst>
              <a:ext uri="{FF2B5EF4-FFF2-40B4-BE49-F238E27FC236}">
                <a16:creationId xmlns:a16="http://schemas.microsoft.com/office/drawing/2014/main" id="{7F5D1C6B-4E6B-0346-A5DC-C511DB14EFD6}"/>
              </a:ext>
            </a:extLst>
          </p:cNvPr>
          <p:cNvSpPr/>
          <p:nvPr userDrawn="1"/>
        </p:nvSpPr>
        <p:spPr>
          <a:xfrm>
            <a:off x="9442811" y="3969609"/>
            <a:ext cx="830997" cy="830997"/>
          </a:xfrm>
          <a:prstGeom prst="ellipse">
            <a:avLst/>
          </a:prstGeom>
          <a:solidFill>
            <a:srgbClr val="FFD746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5" name="Oval 41">
            <a:extLst>
              <a:ext uri="{FF2B5EF4-FFF2-40B4-BE49-F238E27FC236}">
                <a16:creationId xmlns:a16="http://schemas.microsoft.com/office/drawing/2014/main" id="{EB421DBA-35DE-2C4F-A89E-27F0998EF4E8}"/>
              </a:ext>
            </a:extLst>
          </p:cNvPr>
          <p:cNvSpPr/>
          <p:nvPr userDrawn="1"/>
        </p:nvSpPr>
        <p:spPr>
          <a:xfrm>
            <a:off x="10792754" y="3969609"/>
            <a:ext cx="830997" cy="830997"/>
          </a:xfrm>
          <a:prstGeom prst="ellipse">
            <a:avLst/>
          </a:prstGeom>
          <a:solidFill>
            <a:srgbClr val="CDDDF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6" name="Oval 42">
            <a:extLst>
              <a:ext uri="{FF2B5EF4-FFF2-40B4-BE49-F238E27FC236}">
                <a16:creationId xmlns:a16="http://schemas.microsoft.com/office/drawing/2014/main" id="{081BD842-A9A1-5B44-81ED-A97BA390032B}"/>
              </a:ext>
            </a:extLst>
          </p:cNvPr>
          <p:cNvSpPr/>
          <p:nvPr userDrawn="1"/>
        </p:nvSpPr>
        <p:spPr>
          <a:xfrm>
            <a:off x="5392982" y="5249769"/>
            <a:ext cx="830997" cy="830997"/>
          </a:xfrm>
          <a:prstGeom prst="ellipse">
            <a:avLst/>
          </a:prstGeom>
          <a:solidFill>
            <a:srgbClr val="D7EBB4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7" name="Oval 43">
            <a:extLst>
              <a:ext uri="{FF2B5EF4-FFF2-40B4-BE49-F238E27FC236}">
                <a16:creationId xmlns:a16="http://schemas.microsoft.com/office/drawing/2014/main" id="{036EE7D2-A33A-434C-B272-C82E2CDD4D4D}"/>
              </a:ext>
            </a:extLst>
          </p:cNvPr>
          <p:cNvSpPr/>
          <p:nvPr userDrawn="1"/>
        </p:nvSpPr>
        <p:spPr>
          <a:xfrm>
            <a:off x="6742925" y="5249769"/>
            <a:ext cx="830997" cy="830997"/>
          </a:xfrm>
          <a:prstGeom prst="ellipse">
            <a:avLst/>
          </a:prstGeom>
          <a:solidFill>
            <a:srgbClr val="FFDC9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8" name="Oval 44">
            <a:extLst>
              <a:ext uri="{FF2B5EF4-FFF2-40B4-BE49-F238E27FC236}">
                <a16:creationId xmlns:a16="http://schemas.microsoft.com/office/drawing/2014/main" id="{7DD65DA4-F076-C242-813E-8C17DCABCCFB}"/>
              </a:ext>
            </a:extLst>
          </p:cNvPr>
          <p:cNvSpPr/>
          <p:nvPr userDrawn="1"/>
        </p:nvSpPr>
        <p:spPr>
          <a:xfrm>
            <a:off x="8092868" y="5249769"/>
            <a:ext cx="830997" cy="830997"/>
          </a:xfrm>
          <a:prstGeom prst="ellipse">
            <a:avLst/>
          </a:prstGeom>
          <a:solidFill>
            <a:srgbClr val="D7C3F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9" name="Oval 45">
            <a:extLst>
              <a:ext uri="{FF2B5EF4-FFF2-40B4-BE49-F238E27FC236}">
                <a16:creationId xmlns:a16="http://schemas.microsoft.com/office/drawing/2014/main" id="{8A44D99D-BF66-2848-B460-F59D8ECF5690}"/>
              </a:ext>
            </a:extLst>
          </p:cNvPr>
          <p:cNvSpPr/>
          <p:nvPr userDrawn="1"/>
        </p:nvSpPr>
        <p:spPr>
          <a:xfrm>
            <a:off x="9442811" y="5249769"/>
            <a:ext cx="830997" cy="830997"/>
          </a:xfrm>
          <a:prstGeom prst="ellipse">
            <a:avLst/>
          </a:prstGeom>
          <a:solidFill>
            <a:srgbClr val="F6C3C3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40" name="Oval 46">
            <a:extLst>
              <a:ext uri="{FF2B5EF4-FFF2-40B4-BE49-F238E27FC236}">
                <a16:creationId xmlns:a16="http://schemas.microsoft.com/office/drawing/2014/main" id="{9B130CEB-3D74-B647-BA6B-32F7D70FD354}"/>
              </a:ext>
            </a:extLst>
          </p:cNvPr>
          <p:cNvSpPr/>
          <p:nvPr userDrawn="1"/>
        </p:nvSpPr>
        <p:spPr>
          <a:xfrm>
            <a:off x="10792754" y="5249769"/>
            <a:ext cx="830997" cy="830997"/>
          </a:xfrm>
          <a:prstGeom prst="ellipse">
            <a:avLst/>
          </a:prstGeom>
          <a:solidFill>
            <a:srgbClr val="FFF07D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8670546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чистый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Icon&#10;&#10;Description automatically generated">
            <a:extLst>
              <a:ext uri="{FF2B5EF4-FFF2-40B4-BE49-F238E27FC236}">
                <a16:creationId xmlns:a16="http://schemas.microsoft.com/office/drawing/2014/main" id="{A7FA04E4-3213-8F41-B068-4DC28144142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9" name="Straight Connector 19">
            <a:extLst>
              <a:ext uri="{FF2B5EF4-FFF2-40B4-BE49-F238E27FC236}">
                <a16:creationId xmlns:a16="http://schemas.microsoft.com/office/drawing/2014/main" id="{938052A0-3DF0-DC47-B7E0-C20EF981C230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1">
            <a:extLst>
              <a:ext uri="{FF2B5EF4-FFF2-40B4-BE49-F238E27FC236}">
                <a16:creationId xmlns:a16="http://schemas.microsoft.com/office/drawing/2014/main" id="{8C6147F0-3CA1-264C-B2B2-F88597196943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25">
            <a:extLst>
              <a:ext uri="{FF2B5EF4-FFF2-40B4-BE49-F238E27FC236}">
                <a16:creationId xmlns:a16="http://schemas.microsoft.com/office/drawing/2014/main" id="{62CDF50E-4D58-AF4A-ABFD-140AF88B3681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62171D1-2A5B-7A4A-9760-17CCE51B9802}"/>
              </a:ext>
            </a:extLst>
          </p:cNvPr>
          <p:cNvSpPr txBox="1"/>
          <p:nvPr userDrawn="1"/>
        </p:nvSpPr>
        <p:spPr>
          <a:xfrm>
            <a:off x="10410201" y="532278"/>
            <a:ext cx="944983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 / 26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3" name="Straight Connector 59">
            <a:extLst>
              <a:ext uri="{FF2B5EF4-FFF2-40B4-BE49-F238E27FC236}">
                <a16:creationId xmlns:a16="http://schemas.microsoft.com/office/drawing/2014/main" id="{3C71A0C3-CD3E-0748-98E5-6B2507CAB296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Текст 37">
            <a:extLst>
              <a:ext uri="{FF2B5EF4-FFF2-40B4-BE49-F238E27FC236}">
                <a16:creationId xmlns:a16="http://schemas.microsoft.com/office/drawing/2014/main" id="{9856D01B-EC9A-6047-B7FB-D47084AB3F5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39">
            <a:extLst>
              <a:ext uri="{FF2B5EF4-FFF2-40B4-BE49-F238E27FC236}">
                <a16:creationId xmlns:a16="http://schemas.microsoft.com/office/drawing/2014/main" id="{83E23342-AC91-354A-9A28-A14FF7BADC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Текст 39">
            <a:extLst>
              <a:ext uri="{FF2B5EF4-FFF2-40B4-BE49-F238E27FC236}">
                <a16:creationId xmlns:a16="http://schemas.microsoft.com/office/drawing/2014/main" id="{BB1CCE68-8F57-1A41-BC43-633D2EFC801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52098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чистый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5234703-C735-5D41-99C2-019C7EBECCF4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82F59B5-E815-AE43-BAE2-FA594BB42C0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5310809" y="2643809"/>
            <a:ext cx="1570383" cy="1570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706428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33F8FDE-7383-E947-8568-FF6B7A7765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8E6541-45CA-8B42-98B4-D42737B850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70645B-C5D9-8544-BBF2-E4A13F8E40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F52289-7F57-544F-95EE-F8B2E10627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C5F56-F795-5643-ABE3-DDED218698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20F133-126C-5944-A0E4-6A9616EDC0DA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5785060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61" r:id="rId3"/>
    <p:sldLayoutId id="2147483650" r:id="rId4"/>
    <p:sldLayoutId id="2147483651" r:id="rId5"/>
    <p:sldLayoutId id="2147483652" r:id="rId6"/>
    <p:sldLayoutId id="2147483654" r:id="rId7"/>
    <p:sldLayoutId id="2147483655" r:id="rId8"/>
    <p:sldLayoutId id="2147483656" r:id="rId9"/>
    <p:sldLayoutId id="2147483658" r:id="rId10"/>
    <p:sldLayoutId id="2147483657" r:id="rId11"/>
    <p:sldLayoutId id="2147483659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D95C0D-D7DC-EF40-9E45-F5F0A4817C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7967" y="2404670"/>
            <a:ext cx="10104631" cy="1978323"/>
          </a:xfrm>
        </p:spPr>
        <p:txBody>
          <a:bodyPr wrap="square">
            <a:normAutofit fontScale="90000"/>
          </a:bodyPr>
          <a:lstStyle/>
          <a:p>
            <a:b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sz="2600" b="1">
                <a:solidFill>
                  <a:srgbClr val="0F2C68"/>
                </a:solidFill>
                <a:latin typeface="HSE Sans"/>
              </a:rPr>
              <a:t>Разработка приложения для агрегации информации об IT-событиях и выдачи персональных рекомендаций на основе модели пользователя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C6FAE0FA-3CAF-BA4B-8F9F-5FEF3C2F3CC6}"/>
              </a:ext>
            </a:extLst>
          </p:cNvPr>
          <p:cNvSpPr>
            <a:spLocks noGrp="1"/>
          </p:cNvSpPr>
          <p:nvPr>
            <p:ph type="body" idx="12"/>
          </p:nvPr>
        </p:nvSpPr>
        <p:spPr/>
        <p:txBody>
          <a:bodyPr wrap="square"/>
          <a:lstStyle/>
          <a:p>
            <a:br>
              <a:rPr lang="ru-RU" dirty="0"/>
            </a:br>
            <a:r>
              <a:rPr sz="1400">
                <a:latin typeface="HSE Sans"/>
              </a:rPr>
              <a:t>Пермь</a:t>
            </a:r>
            <a:endParaRPr lang="ru-RU" dirty="0"/>
          </a:p>
          <a:p>
            <a:r>
              <a:rPr sz="1400">
                <a:latin typeface="HSE Sans"/>
              </a:rPr>
              <a:t>2026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14690F36-FB51-4F4B-99B0-413E4123268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27967" y="4471732"/>
            <a:ext cx="5434244" cy="654050"/>
          </a:xfrm>
        </p:spPr>
        <p:txBody>
          <a:bodyPr wrap="square">
            <a:normAutofit/>
          </a:bodyPr>
          <a:lstStyle/>
          <a:p>
            <a:r>
              <a:rPr sz="1800">
                <a:latin typeface="HSE Sans"/>
              </a:rPr>
              <a:t>Работу выполнил студент: </a:t>
            </a:r>
            <a:r>
              <a:rPr sz="1800" b="1">
                <a:latin typeface="HSE Sans"/>
              </a:rPr>
              <a:t>Белов Е.А.</a:t>
            </a:r>
            <a:endParaRPr lang="ru-RU" sz="2100" dirty="0"/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4FCE93C6-82A9-45CB-9F11-05B8D054F948}"/>
              </a:ext>
            </a:extLst>
          </p:cNvPr>
          <p:cNvSpPr txBox="1">
            <a:spLocks/>
          </p:cNvSpPr>
          <p:nvPr/>
        </p:nvSpPr>
        <p:spPr>
          <a:xfrm>
            <a:off x="7191909" y="4408043"/>
            <a:ext cx="4119937" cy="1407129"/>
          </a:xfrm>
          <a:prstGeom prst="rect">
            <a:avLst/>
          </a:prstGeom>
        </p:spPr>
        <p:txBody>
          <a:bodyPr vert="horz" lIns="0" tIns="0" rIns="0" bIns="0" rtlCol="0" wrap="square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sz="1800">
                <a:latin typeface="HSE Sans"/>
              </a:rPr>
              <a:t>Руководитель:</a:t>
            </a:r>
            <a:endParaRPr lang="ru-RU" sz="2000" dirty="0"/>
          </a:p>
          <a:p>
            <a:r>
              <a:rPr sz="1400">
                <a:latin typeface="HSE Sans"/>
              </a:rPr>
              <a:t>Доцент кафедры информационных технологий в бизнесе</a:t>
            </a:r>
          </a:p>
          <a:p>
            <a:r>
              <a:rPr sz="1400" b="1">
                <a:latin typeface="HSE Sans"/>
              </a:rPr>
              <a:t>Городилов А.Ю.</a:t>
            </a:r>
          </a:p>
        </p:txBody>
      </p:sp>
      <p:sp>
        <p:nvSpPr>
          <p:cNvPr id="9" name="Текст 3">
            <a:extLst>
              <a:ext uri="{FF2B5EF4-FFF2-40B4-BE49-F238E27FC236}">
                <a16:creationId xmlns:a16="http://schemas.microsoft.com/office/drawing/2014/main" id="{93AC612D-B865-4650-A821-BE0DF0BD17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259420" y="1198695"/>
            <a:ext cx="2278063" cy="463186"/>
          </a:xfrm>
        </p:spPr>
        <p:txBody>
          <a:bodyPr/>
          <a:lstStyle/>
          <a:p>
            <a:r>
              <a:rPr lang="ru-RU" sz="1200" dirty="0"/>
              <a:t>«Программная инженерия»</a:t>
            </a:r>
            <a:endParaRPr lang="ru-RU" dirty="0"/>
          </a:p>
        </p:txBody>
      </p:sp>
      <p:sp>
        <p:nvSpPr>
          <p:cNvPr id="10" name="Текст 2">
            <a:extLst>
              <a:ext uri="{FF2B5EF4-FFF2-40B4-BE49-F238E27FC236}">
                <a16:creationId xmlns:a16="http://schemas.microsoft.com/office/drawing/2014/main" id="{662F2909-31F3-4434-BB7F-534E5BFDC1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074947" y="1187841"/>
            <a:ext cx="3848717" cy="435163"/>
          </a:xfrm>
        </p:spPr>
        <p:txBody>
          <a:bodyPr/>
          <a:lstStyle/>
          <a:p>
            <a:r>
              <a:rPr lang="ru-RU" sz="1600" dirty="0"/>
              <a:t>Факультет экономики, менеджмента и бизнес-информатики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82325395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246888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24688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246888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Актуальность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65836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IT-мероприятий очень много: конференции, митапы, вебинары, хакатоны идут десятками в неделю.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Анонсы разбросаны по сайтам, агрегаторам и Telegram-каналам — нет единой точки входа.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Отфильтровать релевантное по теме, уровню, формату и городу — ручная рутина, отнимающая время.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Классические афиши не знают карьерной цели пользователя и его истории интересов.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Растёт спрос на персонализацию: лента «под меня», а не общий список.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1783080"/>
            <a:ext cx="4206240" cy="1325880"/>
          </a:xfrm>
          <a:prstGeom prst="rect">
            <a:avLst/>
          </a:prstGeom>
          <a:solidFill>
            <a:srgbClr val="EAEFF7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101600"/>
          <a:lstStyle/>
          <a:p>
            <a:pPr algn="ctr"/>
            <a:r>
              <a:rPr sz="1500" b="1">
                <a:solidFill>
                  <a:srgbClr val="0F2C68"/>
                </a:solidFill>
                <a:latin typeface="HSE Sans"/>
              </a:rPr>
              <a:t>Проблема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Релевантные IT-события теряются в информационном шуме десятков источников.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79" y="3291840"/>
            <a:ext cx="4206240" cy="1417320"/>
          </a:xfrm>
          <a:prstGeom prst="rect">
            <a:avLst/>
          </a:prstGeom>
          <a:solidFill>
            <a:srgbClr val="E3F0E6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101600"/>
          <a:lstStyle/>
          <a:p>
            <a:pPr algn="ctr"/>
            <a:r>
              <a:rPr sz="1500" b="1">
                <a:solidFill>
                  <a:srgbClr val="0F2C68"/>
                </a:solidFill>
                <a:latin typeface="HSE Sans"/>
              </a:rPr>
              <a:t>Решение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Один Telegram-бот собирает события из 6 источников и строит ленту по 9 признакам с объяснением «почему именно это».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4892040"/>
            <a:ext cx="4206240" cy="1325880"/>
          </a:xfrm>
          <a:prstGeom prst="rect">
            <a:avLst/>
          </a:prstGeom>
          <a:solidFill>
            <a:srgbClr val="FDEFE3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101600"/>
          <a:lstStyle/>
          <a:p>
            <a:pPr algn="ctr"/>
            <a:r>
              <a:rPr sz="1500" b="1">
                <a:solidFill>
                  <a:srgbClr val="0F2C68"/>
                </a:solidFill>
                <a:latin typeface="HSE Sans"/>
              </a:rPr>
              <a:t>Отличие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Учитываем не только темы, но и карьерную цель и историю реакций пользователя.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246888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24688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246888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Объект и предмет исследования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11680"/>
            <a:ext cx="5303520" cy="2926080"/>
          </a:xfrm>
          <a:prstGeom prst="rect">
            <a:avLst/>
          </a:prstGeom>
          <a:solidFill>
            <a:srgbClr val="EAEFF7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101600"/>
          <a:lstStyle/>
          <a:p>
            <a:pPr algn="ctr"/>
            <a:r>
              <a:rPr sz="1500" b="1">
                <a:solidFill>
                  <a:srgbClr val="0F2C68"/>
                </a:solidFill>
                <a:latin typeface="HSE Sans"/>
              </a:rPr>
              <a:t>Объект исследования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Процессы агрегации информации об IT-мероприятиях и построения персонализированных рекомендаций для пользователей.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2011680"/>
            <a:ext cx="5303520" cy="2926080"/>
          </a:xfrm>
          <a:prstGeom prst="rect">
            <a:avLst/>
          </a:prstGeom>
          <a:solidFill>
            <a:srgbClr val="E3F0E6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101600"/>
          <a:lstStyle/>
          <a:p>
            <a:pPr algn="ctr"/>
            <a:r>
              <a:rPr sz="1500" b="1">
                <a:solidFill>
                  <a:srgbClr val="0F2C68"/>
                </a:solidFill>
                <a:latin typeface="HSE Sans"/>
              </a:rPr>
              <a:t>Предмет исследования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Программная система, объединяющая сбор и нормализацию событий, гибридный рекомендатель и мультиагентного AI-копилота вокруг общей базы данных.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246888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24688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246888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Цель и задачи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5029200" cy="3017520"/>
          </a:xfrm>
          <a:prstGeom prst="rect">
            <a:avLst/>
          </a:prstGeom>
          <a:solidFill>
            <a:srgbClr val="EAEFF7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101600"/>
          <a:lstStyle/>
          <a:p>
            <a:pPr algn="ctr"/>
            <a:r>
              <a:rPr sz="1500" b="1">
                <a:solidFill>
                  <a:srgbClr val="0F2C68"/>
                </a:solidFill>
                <a:latin typeface="HSE Sans"/>
              </a:rPr>
              <a:t>Цель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Разработать систему, которая автоматически собирает анонсы IT-мероприятий из множества источников, нормализует их и строит для каждого пользователя персональную ленту рекомендаций с понятным объяснением выбора.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0" y="1554480"/>
            <a:ext cx="5852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Анализ предметной области и подходов к рекомендациям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Проектирование архитектуры (API, бот, планировщик)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Сбор и AI-нормализация событий из 6 источников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Реализация гибридного рекомендатора (9 компонент)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Разработка Telegram-интерфейса и AI-копилота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Тестирование и оценка качества рекомендаций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9144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ED7D31"/>
                </a:solidFill>
                <a:latin typeface="HSE Sans"/>
              </a:rPr>
              <a:t>Задачи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246888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24688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246888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Oval 4"/>
          <p:cNvSpPr/>
          <p:nvPr/>
        </p:nvSpPr>
        <p:spPr>
          <a:xfrm>
            <a:off x="4041648" y="2788920"/>
            <a:ext cx="4114800" cy="1371600"/>
          </a:xfrm>
          <a:prstGeom prst="ellipse">
            <a:avLst/>
          </a:prstGeom>
          <a:solidFill>
            <a:srgbClr val="0F2C68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700" b="1">
                <a:solidFill>
                  <a:srgbClr val="FFFFFF"/>
                </a:solidFill>
                <a:latin typeface="HSE Sans"/>
              </a:rPr>
              <a:t>Проблемы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1325880"/>
            <a:ext cx="3291840" cy="1325880"/>
          </a:xfrm>
          <a:prstGeom prst="ellipse">
            <a:avLst/>
          </a:prstGeom>
          <a:solidFill>
            <a:srgbClr val="4472C4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FFFFFF"/>
                </a:solidFill>
                <a:latin typeface="HSE Sans"/>
              </a:rPr>
              <a:t>Фрагментированность источников событий</a:t>
            </a:r>
          </a:p>
        </p:txBody>
      </p:sp>
      <p:sp>
        <p:nvSpPr>
          <p:cNvPr id="7" name="Oval 6"/>
          <p:cNvSpPr/>
          <p:nvPr/>
        </p:nvSpPr>
        <p:spPr>
          <a:xfrm>
            <a:off x="594360" y="4297680"/>
            <a:ext cx="3291840" cy="1325880"/>
          </a:xfrm>
          <a:prstGeom prst="ellipse">
            <a:avLst/>
          </a:prstGeom>
          <a:solidFill>
            <a:srgbClr val="4472C4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FFFFFF"/>
                </a:solidFill>
                <a:latin typeface="HSE Sans"/>
              </a:rPr>
              <a:t>Информационный шум и дубли анонсов</a:t>
            </a:r>
          </a:p>
        </p:txBody>
      </p:sp>
      <p:sp>
        <p:nvSpPr>
          <p:cNvPr id="8" name="Oval 7"/>
          <p:cNvSpPr/>
          <p:nvPr/>
        </p:nvSpPr>
        <p:spPr>
          <a:xfrm>
            <a:off x="4480560" y="5029200"/>
            <a:ext cx="3246120" cy="1325880"/>
          </a:xfrm>
          <a:prstGeom prst="ellipse">
            <a:avLst/>
          </a:prstGeom>
          <a:solidFill>
            <a:srgbClr val="4472C4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FFFFFF"/>
                </a:solidFill>
                <a:latin typeface="HSE Sans"/>
              </a:rPr>
              <a:t>Нет персонализации под уровень и цель</a:t>
            </a:r>
          </a:p>
        </p:txBody>
      </p:sp>
      <p:sp>
        <p:nvSpPr>
          <p:cNvPr id="9" name="Oval 8"/>
          <p:cNvSpPr/>
          <p:nvPr/>
        </p:nvSpPr>
        <p:spPr>
          <a:xfrm>
            <a:off x="8412480" y="1325880"/>
            <a:ext cx="3291840" cy="1325880"/>
          </a:xfrm>
          <a:prstGeom prst="ellipse">
            <a:avLst/>
          </a:prstGeom>
          <a:solidFill>
            <a:srgbClr val="4472C4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FFFFFF"/>
                </a:solidFill>
                <a:latin typeface="HSE Sans"/>
              </a:rPr>
              <a:t>Рекомендации без объяснения выбора</a:t>
            </a:r>
          </a:p>
        </p:txBody>
      </p:sp>
      <p:sp>
        <p:nvSpPr>
          <p:cNvPr id="10" name="Oval 9"/>
          <p:cNvSpPr/>
          <p:nvPr/>
        </p:nvSpPr>
        <p:spPr>
          <a:xfrm>
            <a:off x="8275320" y="4297680"/>
            <a:ext cx="3291840" cy="1325880"/>
          </a:xfrm>
          <a:prstGeom prst="ellipse">
            <a:avLst/>
          </a:prstGeom>
          <a:solidFill>
            <a:srgbClr val="4472C4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FFFFFF"/>
                </a:solidFill>
                <a:latin typeface="HSE Sans"/>
              </a:rPr>
              <a:t>Ручная фильтрация отнимает время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246888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24688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246888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Анализ подходов к рекомендациям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783080"/>
          <a:ext cx="11201400" cy="45720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194560"/>
                <a:gridCol w="3657600"/>
                <a:gridCol w="2788920"/>
                <a:gridCol w="2560320"/>
              </a:tblGrid>
              <a:tr h="762000"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Подход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Преимущества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Недостатки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В EventMind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</a:tr>
              <a:tr h="762000">
                <a:tc>
                  <a:txBody>
                    <a:bodyPr lIns="76200" rIns="76200" tIns="38100" bIns="38100"/>
                    <a:lstStyle/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Контентный</a:t>
                      </a:r>
                    </a:p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(rule-based)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Работает при малом числе пользователей, объясним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Ограниченное разнообразие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Базовый rule + cosine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lIns="76200" rIns="76200" tIns="38100" bIns="38100"/>
                    <a:lstStyle/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Коллаборативная</a:t>
                      </a:r>
                    </a:p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фильтрация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Скрытые закономерности, серендипити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Холодный старт, нужны объёмы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LightGCN (эксперим.)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  <a:tr h="762000">
                <a:tc>
                  <a:txBody>
                    <a:bodyPr lIns="76200" rIns="76200" tIns="38100" bIns="38100"/>
                    <a:lstStyle/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Семантический</a:t>
                      </a:r>
                    </a:p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(embeddings)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Учёт смысла, многоязычность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Затраты на векторы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MiniLM + pgvector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lIns="76200" rIns="76200" tIns="38100" bIns="38100"/>
                    <a:lstStyle/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Контекстный</a:t>
                      </a:r>
                    </a:p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бандит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Баланс exploration/exploitation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Настройка признаков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LinUCB поверх hybrid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  <a:tr h="762000">
                <a:tc>
                  <a:txBody>
                    <a:bodyPr lIns="76200" rIns="76200" tIns="38100" bIns="38100"/>
                    <a:lstStyle/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Гибридный</a:t>
                      </a:r>
                    </a:p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подход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Точность, устойчивость к холодному старту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Сложность настройки весов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Основной алгоритм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644652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95959"/>
                </a:solidFill>
                <a:latin typeface="HSE Sans"/>
              </a:rPr>
              <a:t>Гибрид объединяет сильные стороны подходов и снимает холодный старт — выбран основным алгоритмом.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246888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24688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246888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Диаграмма вариантов использования</a:t>
            </a:r>
          </a:p>
        </p:txBody>
      </p:sp>
      <p:pic>
        <p:nvPicPr>
          <p:cNvPr id="6" name="Picture 5" descr="01_use_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6003" y="1691640"/>
            <a:ext cx="2045912" cy="4709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35040" y="1920240"/>
            <a:ext cx="56692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300"/>
              </a:spcAft>
            </a:pPr>
            <a:r>
              <a:rPr sz="1500" b="0">
                <a:solidFill>
                  <a:srgbClr val="0F2C68"/>
                </a:solidFill>
                <a:latin typeface="HSE Sans"/>
              </a:rPr>
              <a:t>•  Настройка профиля: интересы, уровень, формат, город, цель</a:t>
            </a:r>
          </a:p>
          <a:p>
            <a:pPr>
              <a:spcAft>
                <a:spcPts val="1300"/>
              </a:spcAft>
            </a:pPr>
            <a:r>
              <a:rPr sz="1500" b="0">
                <a:solidFill>
                  <a:srgbClr val="0F2C68"/>
                </a:solidFill>
                <a:latin typeface="HSE Sans"/>
              </a:rPr>
              <a:t>•  Просмотр персональной ленты рекомендаций</a:t>
            </a:r>
          </a:p>
          <a:p>
            <a:pPr>
              <a:spcAft>
                <a:spcPts val="1300"/>
              </a:spcAft>
            </a:pPr>
            <a:r>
              <a:rPr sz="1500" b="0">
                <a:solidFill>
                  <a:srgbClr val="0F2C68"/>
                </a:solidFill>
                <a:latin typeface="HSE Sans"/>
              </a:rPr>
              <a:t>•  Обратная связь: 👍 / 👎 / ⭐ — лента адаптируется</a:t>
            </a:r>
          </a:p>
          <a:p>
            <a:pPr>
              <a:spcAft>
                <a:spcPts val="1300"/>
              </a:spcAft>
            </a:pPr>
            <a:r>
              <a:rPr sz="1500" b="0">
                <a:solidFill>
                  <a:srgbClr val="0F2C68"/>
                </a:solidFill>
                <a:latin typeface="HSE Sans"/>
              </a:rPr>
              <a:t>•  Объяснение «❓ Почему» и «📖 Подробнее» по событию</a:t>
            </a:r>
          </a:p>
          <a:p>
            <a:pPr>
              <a:spcAft>
                <a:spcPts val="1300"/>
              </a:spcAft>
            </a:pPr>
            <a:r>
              <a:rPr sz="1500" b="0">
                <a:solidFill>
                  <a:srgbClr val="0F2C68"/>
                </a:solidFill>
                <a:latin typeface="HSE Sans"/>
              </a:rPr>
              <a:t>•  Семантический поиск событий обычным языком</a:t>
            </a:r>
          </a:p>
          <a:p>
            <a:pPr>
              <a:spcAft>
                <a:spcPts val="1300"/>
              </a:spcAft>
            </a:pPr>
            <a:r>
              <a:rPr sz="1500" b="0">
                <a:solidFill>
                  <a:srgbClr val="0F2C68"/>
                </a:solidFill>
                <a:latin typeface="HSE Sans"/>
              </a:rPr>
              <a:t>•  Диалог с AI-копилотом: план развития под цель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246888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24688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246888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Бизнес-процесс системы</a:t>
            </a:r>
          </a:p>
        </p:txBody>
      </p:sp>
      <p:pic>
        <p:nvPicPr>
          <p:cNvPr id="6" name="Picture 5" descr="02_business_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545" y="1691640"/>
            <a:ext cx="10892428" cy="4709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4652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95959"/>
                </a:solidFill>
                <a:latin typeface="HSE Sans"/>
              </a:rPr>
              <a:t>От сбора и нормализации событий до доставки персональной ленты и обработки обратной связи.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246888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24688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246888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Архитектура системы</a:t>
            </a:r>
          </a:p>
        </p:txBody>
      </p:sp>
      <p:pic>
        <p:nvPicPr>
          <p:cNvPr id="6" name="Picture 5" descr="03_c4_contain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4710" y="1691640"/>
            <a:ext cx="4525939" cy="47091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21040" y="1783080"/>
            <a:ext cx="34747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350" b="0">
                <a:solidFill>
                  <a:srgbClr val="0F2C68"/>
                </a:solidFill>
                <a:latin typeface="HSE Sans"/>
              </a:rPr>
              <a:t>•  API — REST на FastAPI</a:t>
            </a:r>
          </a:p>
          <a:p>
            <a:pPr>
              <a:spcAft>
                <a:spcPts val="1000"/>
              </a:spcAft>
            </a:pPr>
            <a:r>
              <a:rPr sz="1350" b="0">
                <a:solidFill>
                  <a:srgbClr val="0F2C68"/>
                </a:solidFill>
                <a:latin typeface="HSE Sans"/>
              </a:rPr>
              <a:t>•  Bot — Telegram (aiogram 3)</a:t>
            </a:r>
          </a:p>
          <a:p>
            <a:pPr>
              <a:spcAft>
                <a:spcPts val="1000"/>
              </a:spcAft>
            </a:pPr>
            <a:r>
              <a:rPr sz="1350" b="0">
                <a:solidFill>
                  <a:srgbClr val="0F2C68"/>
                </a:solidFill>
                <a:latin typeface="HSE Sans"/>
              </a:rPr>
              <a:t>•  Scheduler — фоновые джобы</a:t>
            </a:r>
          </a:p>
          <a:p>
            <a:pPr>
              <a:spcAft>
                <a:spcPts val="1000"/>
              </a:spcAft>
            </a:pPr>
            <a:r>
              <a:rPr sz="1350" b="0">
                <a:solidFill>
                  <a:srgbClr val="0F2C68"/>
                </a:solidFill>
                <a:latin typeface="HSE Sans"/>
              </a:rPr>
              <a:t>•  Общая БД: PostgreSQL + pgvector</a:t>
            </a:r>
          </a:p>
          <a:p>
            <a:pPr>
              <a:spcAft>
                <a:spcPts val="1000"/>
              </a:spcAft>
            </a:pPr>
            <a:r>
              <a:rPr sz="1350" b="0">
                <a:solidFill>
                  <a:srgbClr val="0F2C68"/>
                </a:solidFill>
                <a:latin typeface="HSE Sans"/>
              </a:rPr>
              <a:t>•  LLM-провайдеры (Gemini, Groq)</a:t>
            </a:r>
          </a:p>
          <a:p>
            <a:pPr>
              <a:spcAft>
                <a:spcPts val="1000"/>
              </a:spcAft>
            </a:pPr>
            <a:r>
              <a:rPr sz="1350" b="0">
                <a:solidFill>
                  <a:srgbClr val="0F2C68"/>
                </a:solidFill>
                <a:latin typeface="HSE Sans"/>
              </a:rPr>
              <a:t>•  Три независимых процесса вокруг общей базы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95959"/>
                </a:solidFill>
                <a:latin typeface="HSE Sans"/>
              </a:rPr>
              <a:t>Модульная схема на уровне контейнеров (C4).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246888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24688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246888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Модель данных</a:t>
            </a:r>
          </a:p>
        </p:txBody>
      </p:sp>
      <p:pic>
        <p:nvPicPr>
          <p:cNvPr id="6" name="Picture 5" descr="04_er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89368"/>
            <a:ext cx="11064240" cy="331370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4652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95959"/>
                </a:solidFill>
                <a:latin typeface="HSE Sans"/>
              </a:rPr>
              <a:t>Пользователи, события, взаимодействия, embedding'и, состояние бандита и долговременная память.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246888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24688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246888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Выбор средств реализации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737360"/>
          <a:ext cx="11201400" cy="466344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377440"/>
                <a:gridCol w="3931920"/>
                <a:gridCol w="4892040"/>
              </a:tblGrid>
              <a:tr h="466344"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Компонент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Технология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Назначение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</a:tr>
              <a:tr h="466344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Язык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Python 3.12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Весь стек: API, бот, ML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API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FastAPI + Uvicorn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REST-слой, OpenAPI на /docs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  <a:tr h="466344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Бот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aiogram 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Telegram-интерфейс, FSM, роутеры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БД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PostgreSQL + pgvector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Данные + семантический поиск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  <a:tr h="466344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ORM / миграции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SQLAlchemy 2.0 + Alembic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Модели и версии схемы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Эмбеддинги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sentence-transformers (MiniLM)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384-мерные векторы, рус.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  <a:tr h="466344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AI-агенты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LangGraph + LangChain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Supervisor-Worker граф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LLM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Gemini → Groq 70b → Groq 8b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Нормализация, объяснения, копилот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  <a:tr h="466344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Планировщик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APScheduler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Дайджест, ingestion, backfill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246888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24688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246888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Гибридный рекомендатель: 9 компонент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691640"/>
          <a:ext cx="8229600" cy="47091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737360"/>
                <a:gridCol w="3200400"/>
                <a:gridCol w="3291840"/>
              </a:tblGrid>
              <a:tr h="470916"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Компонент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Парадигма / источник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Назначение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</a:tr>
              <a:tr h="470916">
                <a:tc>
                  <a:txBody>
                    <a:bodyPr lIns="76200" rIns="76200" tIns="38100" bIns="38100"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rule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rule-based, профиль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Совпадение явных предпочтений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0916">
                <a:tc>
                  <a:txBody>
                    <a:bodyPr lIns="76200" rIns="76200" tIns="38100" bIns="38100"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cosine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content-based, embeddings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Семантическая близость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  <a:tr h="470916">
                <a:tc>
                  <a:txBody>
                    <a:bodyPr lIns="76200" rIns="76200" tIns="38100" bIns="38100"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bayesian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Thompson sampling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Статистика по темам с затуханием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0916">
                <a:tc>
                  <a:txBody>
                    <a:bodyPr lIns="76200" rIns="76200" tIns="38100" bIns="38100"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quality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LLM-оценка 1–10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Качество описания и источника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  <a:tr h="470916">
                <a:tc>
                  <a:txBody>
                    <a:bodyPr lIns="76200" rIns="76200" tIns="38100" bIns="38100"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hype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LLM-оценка 1–10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Актуальность темы сейчас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0916">
                <a:tc>
                  <a:txBody>
                    <a:bodyPr lIns="76200" rIns="76200" tIns="38100" bIns="38100"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freshness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exp-decay по дате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Свежесть события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  <a:tr h="470916">
                <a:tc>
                  <a:txBody>
                    <a:bodyPr lIns="76200" rIns="76200" tIns="38100" bIns="38100"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skill_gap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goal-aware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Соответствие карьерной цели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0916">
                <a:tc>
                  <a:txBody>
                    <a:bodyPr lIns="76200" rIns="76200" tIns="38100" bIns="38100"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bandit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LinUCB contextual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Баланс exploration/exploitation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  <a:tr h="470916">
                <a:tc>
                  <a:txBody>
                    <a:bodyPr lIns="76200" rIns="76200" tIns="38100" bIns="38100"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gnn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LightGCN collaborative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Коллаборативный сигнал (эксперим.)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961120" y="1828800"/>
            <a:ext cx="292608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Веса задаются конфигом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MMR-rerank (λ=0.7) для разнообразия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Series anti-flood: один выпуск серии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Каждая компонента в try/except — сбой не ломает выдачу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TTL-кэш выдачи 15 мин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246888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24688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246888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Как строится рекомендация</a:t>
            </a:r>
          </a:p>
        </p:txBody>
      </p:sp>
      <p:pic>
        <p:nvPicPr>
          <p:cNvPr id="6" name="Picture 5" descr="05_sequence_recomm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2940" y="1691640"/>
            <a:ext cx="6955639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4652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95959"/>
                </a:solidFill>
                <a:latin typeface="HSE Sans"/>
              </a:rPr>
              <a:t>GET /recommendations → hybrid отбирает top-N → один LLM-вызов пишет объяснения батчем (RAG, без галлюцинаций).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246888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24688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246888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Сбор и нормализация событий</a:t>
            </a:r>
          </a:p>
        </p:txBody>
      </p:sp>
      <p:pic>
        <p:nvPicPr>
          <p:cNvPr id="6" name="Picture 5" descr="06_activity_normal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0167" y="1691640"/>
            <a:ext cx="2337904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03920" y="1783080"/>
            <a:ext cx="329184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6 источников: habr, rss, kudago, luma, meetup, telegram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source → raw_events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AI-нормализация + Pydantic-валидация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Строгая enum- и ISO-date валидация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pgvector-дедуп (cosine ≥ 0.92)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Идемпотентный повторный сбор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95959"/>
                </a:solidFill>
                <a:latin typeface="HSE Sans"/>
              </a:rPr>
              <a:t>Батчевая нормализация с адаптивным размером чанка.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246888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24688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246888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AI-копилот: Supervisor-Worker</a:t>
            </a:r>
          </a:p>
        </p:txBody>
      </p:sp>
      <p:pic>
        <p:nvPicPr>
          <p:cNvPr id="6" name="Picture 5" descr="07_copilot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194" y="1691640"/>
            <a:ext cx="6574971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0" y="1783080"/>
            <a:ext cx="356616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Граф LangGraph: retrieve → supervisor → specialist → finalize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5 специалистов: recommendation, career_coach, roadmap, explainer, summary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6 function-calling tools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Мульти-туровый диалог + long-term память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Явный, тестируемый граф — не «магия»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246888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24688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246888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LLM-цепочка и надёжность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5486400" cy="3108960"/>
          </a:xfrm>
          <a:prstGeom prst="rect">
            <a:avLst/>
          </a:prstGeom>
          <a:solidFill>
            <a:srgbClr val="EAEFF7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101600"/>
          <a:lstStyle/>
          <a:p>
            <a:pPr algn="ctr"/>
            <a:r>
              <a:rPr sz="1500" b="1">
                <a:solidFill>
                  <a:srgbClr val="0F2C68"/>
                </a:solidFill>
                <a:latin typeface="HSE Sans"/>
              </a:rPr>
              <a:t>Цепочка провайдеров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1.  Gemini — primary (REST-транспорт, автопроба модели)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2.  Groq llama-3.3-70b — fallback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3.  Groq llama-3.1-8b — last-resort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/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Circuit-breaker: 5 фейлов подряд → cooldown 120 с.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Per-provider cooldown: 2 фейла → skip на 10 мин.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828800"/>
            <a:ext cx="548640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2C68"/>
                </a:solidFill>
                <a:latin typeface="HSE Sans"/>
              </a:rPr>
              <a:t>•  Три уровня graceful-degradation:</a:t>
            </a:r>
          </a:p>
          <a:p>
            <a:pPr lvl="1">
              <a:spcAft>
                <a:spcPts val="1000"/>
              </a:spcAft>
            </a:pPr>
            <a:r>
              <a:rPr sz="1200" b="0">
                <a:solidFill>
                  <a:srgbClr val="595959"/>
                </a:solidFill>
                <a:latin typeface="HSE Sans"/>
              </a:rPr>
              <a:t>–  LLM → следующий провайдер цепочки</a:t>
            </a:r>
          </a:p>
          <a:p>
            <a:pPr lvl="1">
              <a:spcAft>
                <a:spcPts val="1000"/>
              </a:spcAft>
            </a:pPr>
            <a:r>
              <a:rPr sz="1200" b="0">
                <a:solidFill>
                  <a:srgbClr val="595959"/>
                </a:solidFill>
                <a:latin typeface="HSE Sans"/>
              </a:rPr>
              <a:t>–  hybrid → rule-only выдача при сбое</a:t>
            </a:r>
          </a:p>
          <a:p>
            <a:pPr lvl="1">
              <a:spcAft>
                <a:spcPts val="1000"/>
              </a:spcAft>
            </a:pPr>
            <a:r>
              <a:rPr sz="1200" b="0">
                <a:solidFill>
                  <a:srgbClr val="595959"/>
                </a:solidFill>
                <a:latin typeface="HSE Sans"/>
              </a:rPr>
              <a:t>–  Copilot → сохранение сессии, «AI временно недоступен»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2C68"/>
                </a:solidFill>
                <a:latin typeface="HSE Sans"/>
              </a:rPr>
              <a:t>•  X-API-Key shared-secret + request-логирование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2C68"/>
                </a:solidFill>
                <a:latin typeface="HSE Sans"/>
              </a:rPr>
              <a:t>•  Prompt-injection sanitize пользовательского ввода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2C68"/>
                </a:solidFill>
                <a:latin typeface="HSE Sans"/>
              </a:rPr>
              <a:t>•  Read-only hot-path + TTL-кэш рекомендаций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246888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24688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246888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Оценка качества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828800"/>
          <a:ext cx="5486400" cy="246888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554480"/>
                <a:gridCol w="731520"/>
                <a:gridCol w="1005840"/>
                <a:gridCol w="1188720"/>
                <a:gridCol w="1005840"/>
              </a:tblGrid>
              <a:tr h="493776"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Метрика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k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rule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hybrid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bayes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</a:tr>
              <a:tr h="493776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Recall@k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0,50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0,65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0,65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Recall@k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10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0,80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0,85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0,85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  <a:tr h="493776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nDCG@k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0,26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0,38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0,38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nDCG@k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10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0,36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0,44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0,45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D7D31"/>
                </a:solidFill>
                <a:latin typeface="HSE Sans"/>
              </a:rPr>
              <a:t>Leave-one-out (Recall@k / nDCG@k)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828800"/>
          <a:ext cx="5120640" cy="21945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194560"/>
                <a:gridCol w="1463040"/>
                <a:gridCol w="1463040"/>
              </a:tblGrid>
              <a:tr h="548640"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Алгоритм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relevance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diversity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</a:tr>
              <a:tr h="548640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rule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4,33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2,53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hybrid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4,40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2,10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  <a:tr h="548640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bayesian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4,40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2,03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D7D31"/>
                </a:solidFill>
                <a:latin typeface="HSE Sans"/>
              </a:rPr>
              <a:t>LLM-судья (оценка 1–5)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72000"/>
            <a:ext cx="1115568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2C68"/>
                </a:solidFill>
                <a:latin typeface="HSE Sans"/>
              </a:rPr>
              <a:t>•  Гибрид превосходит rule-only по Recall@5 (0,65 против 0,50) и nDCG@5 (0,38 против 0,26).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2C68"/>
                </a:solidFill>
                <a:latin typeface="HSE Sans"/>
              </a:rPr>
              <a:t>•  369 автотестов в tests/ (scoring, bayesian, bandit, gnn, memory, ingestion, copilot, security).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2C68"/>
                </a:solidFill>
                <a:latin typeface="HSE Sans"/>
              </a:rPr>
              <a:t>•  Воспроизводимые скрипты оценки с фиксированным seed=42.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246888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24688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246888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Заключение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557784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100"/>
              </a:spcAft>
            </a:pPr>
            <a:r>
              <a:rPr sz="1550" b="0">
                <a:solidFill>
                  <a:srgbClr val="0F2C68"/>
                </a:solidFill>
                <a:latin typeface="HSE Sans"/>
              </a:rPr>
              <a:t>•  Все поставленные задачи выполнены.</a:t>
            </a:r>
          </a:p>
          <a:p>
            <a:pPr>
              <a:spcAft>
                <a:spcPts val="1100"/>
              </a:spcAft>
            </a:pPr>
            <a:r>
              <a:rPr sz="1550" b="0">
                <a:solidFill>
                  <a:srgbClr val="0F2C68"/>
                </a:solidFill>
                <a:latin typeface="HSE Sans"/>
              </a:rPr>
              <a:t>•  Собрана рабочая система: API + бот + планировщик вокруг общей БД (PostgreSQL + pgvector).</a:t>
            </a:r>
          </a:p>
          <a:p>
            <a:pPr>
              <a:spcAft>
                <a:spcPts val="1100"/>
              </a:spcAft>
            </a:pPr>
            <a:r>
              <a:rPr sz="1550" b="0">
                <a:solidFill>
                  <a:srgbClr val="0F2C68"/>
                </a:solidFill>
                <a:latin typeface="HSE Sans"/>
              </a:rPr>
              <a:t>•  Реализован гибридный рекомендатель из 9 компонент с объяснениями и AI-копилот на LangGraph.</a:t>
            </a:r>
          </a:p>
          <a:p>
            <a:pPr>
              <a:spcAft>
                <a:spcPts val="1100"/>
              </a:spcAft>
            </a:pPr>
            <a:r>
              <a:rPr sz="1550" b="0">
                <a:solidFill>
                  <a:srgbClr val="0F2C68"/>
                </a:solidFill>
                <a:latin typeface="HSE Sans"/>
              </a:rPr>
              <a:t>•  Сбор из 6 источников с AI-нормализацией и дедупом.</a:t>
            </a:r>
          </a:p>
          <a:p>
            <a:pPr>
              <a:spcAft>
                <a:spcPts val="1100"/>
              </a:spcAft>
            </a:pPr>
            <a:r>
              <a:rPr sz="1550" b="0">
                <a:solidFill>
                  <a:srgbClr val="0F2C68"/>
                </a:solidFill>
                <a:latin typeface="HSE Sans"/>
              </a:rPr>
              <a:t>•  Качество подтверждено метриками и 369 тестами.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737360"/>
            <a:ext cx="5303520" cy="3200400"/>
          </a:xfrm>
          <a:prstGeom prst="rect">
            <a:avLst/>
          </a:prstGeom>
          <a:solidFill>
            <a:srgbClr val="FDEFE3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101600"/>
          <a:lstStyle/>
          <a:p>
            <a:pPr algn="ctr"/>
            <a:r>
              <a:rPr sz="1500" b="1">
                <a:solidFill>
                  <a:srgbClr val="ED7D31"/>
                </a:solidFill>
                <a:latin typeface="HSE Sans"/>
              </a:rPr>
              <a:t>Направления развития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• Расширение списка источников событий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• Включение GNN-сигнала на большем датасете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• Переработка UX AI-копилота в боте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• A/B-тестирование весов рекомендатора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• Развитие в магистерскую работу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246888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24688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246888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1463040" y="2103120"/>
            <a:ext cx="9235440" cy="2011680"/>
          </a:xfrm>
          <a:prstGeom prst="rect">
            <a:avLst/>
          </a:prstGeom>
          <a:solidFill>
            <a:srgbClr val="0F2C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>
                <a:solidFill>
                  <a:srgbClr val="FFFFFF"/>
                </a:solidFill>
                <a:latin typeface="HSE Sans"/>
              </a:rPr>
              <a:t>Благодарю за внимание!</a:t>
            </a:r>
          </a:p>
          <a:p>
            <a:pPr algn="ctr"/>
            <a:r>
              <a:rPr sz="2000">
                <a:solidFill>
                  <a:srgbClr val="CFDAEE"/>
                </a:solidFill>
                <a:latin typeface="HSE Sans"/>
              </a:rPr>
              <a:t>Готов ответить на ваши вопросы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4572000"/>
            <a:ext cx="9235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F2C68"/>
                </a:solidFill>
                <a:latin typeface="HSE Sans"/>
              </a:rPr>
              <a:t>Белов Егор Александрович</a:t>
            </a:r>
          </a:p>
          <a:p>
            <a:pPr algn="ctr"/>
            <a:r>
              <a:rPr sz="1400">
                <a:solidFill>
                  <a:srgbClr val="595959"/>
                </a:solidFill>
                <a:latin typeface="HSE Sans"/>
              </a:rPr>
              <a:t>НИУ ВШЭ — Пермь · Программная инженерия</a:t>
            </a:r>
          </a:p>
          <a:p>
            <a:pPr algn="ctr"/>
            <a:r>
              <a:rPr sz="1400">
                <a:solidFill>
                  <a:srgbClr val="595959"/>
                </a:solidFill>
                <a:latin typeface="HSE Sans"/>
              </a:rPr>
              <a:t>Проект: EventMind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Пользовательские 1">
      <a:dk1>
        <a:srgbClr val="0F2C68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1000" dirty="0">
            <a:latin typeface="HSE Sans" panose="02000000000000000000" pitchFamily="2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Документ" ma:contentTypeID="0x0101002A9C74E6E830D74E9B0FDDB4017A5417" ma:contentTypeVersion="13" ma:contentTypeDescription="Создание документа." ma:contentTypeScope="" ma:versionID="d4e423622451d608a8a05f4da7a1e1a2">
  <xsd:schema xmlns:xsd="http://www.w3.org/2001/XMLSchema" xmlns:xs="http://www.w3.org/2001/XMLSchema" xmlns:p="http://schemas.microsoft.com/office/2006/metadata/properties" xmlns:ns2="9875bd71-cde8-496c-a136-433f55d5e6d0" xmlns:ns3="e96afe77-3acb-4328-97fc-408e1bde3ecd" targetNamespace="http://schemas.microsoft.com/office/2006/metadata/properties" ma:root="true" ma:fieldsID="4831203c63c08b9f52ea6d3ee0d7a96e" ns2:_="" ns3:_="">
    <xsd:import namespace="9875bd71-cde8-496c-a136-433f55d5e6d0"/>
    <xsd:import namespace="e96afe77-3acb-4328-97fc-408e1bde3ec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DateTaken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875bd71-cde8-496c-a136-433f55d5e6d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6afe77-3acb-4328-97fc-408e1bde3ecd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Общий доступ с использованием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Совместно с подробностями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Тип контента"/>
        <xsd:element ref="dc:title" minOccurs="0" maxOccurs="1" ma:index="4" ma:displayName="Название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4D4651DD-DCCC-4759-B2F6-7F520BDCC2B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875bd71-cde8-496c-a136-433f55d5e6d0"/>
    <ds:schemaRef ds:uri="e96afe77-3acb-4328-97fc-408e1bde3ec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34386AA-1848-4C75-B336-1053927CB02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33DAF31-D8A6-49A0-9A5D-8B2EA5B1C511}">
  <ds:schemaRefs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purl.org/dc/dcmitype/"/>
    <ds:schemaRef ds:uri="e96afe77-3acb-4328-97fc-408e1bde3ecd"/>
    <ds:schemaRef ds:uri="http://schemas.microsoft.com/office/2006/metadata/properties"/>
    <ds:schemaRef ds:uri="http://purl.org/dc/terms/"/>
    <ds:schemaRef ds:uri="http://www.w3.org/XML/1998/namespace"/>
    <ds:schemaRef ds:uri="http://schemas.openxmlformats.org/package/2006/metadata/core-properties"/>
    <ds:schemaRef ds:uri="9875bd71-cde8-496c-a136-433f55d5e6d0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1907</TotalTime>
  <Words>2773</Words>
  <Application>Microsoft Office PowerPoint</Application>
  <PresentationFormat>Широкоэкранный</PresentationFormat>
  <Paragraphs>374</Paragraphs>
  <Slides>19</Slides>
  <Notes>19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19</vt:i4>
      </vt:variant>
    </vt:vector>
  </HeadingPairs>
  <TitlesOfParts>
    <vt:vector size="26" baseType="lpstr">
      <vt:lpstr>Apple Color Emoji</vt:lpstr>
      <vt:lpstr>Arial</vt:lpstr>
      <vt:lpstr>Calibri</vt:lpstr>
      <vt:lpstr>Calibri Light</vt:lpstr>
      <vt:lpstr>HSE Sans</vt:lpstr>
      <vt:lpstr>Times New Roman</vt:lpstr>
      <vt:lpstr>Office Theme</vt:lpstr>
      <vt:lpstr>Разработка приложения для распознавания и поиска объектов на видеоизображении в социальных сетях 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Диаграмма вариантов использования системы</vt:lpstr>
      <vt:lpstr>Схема взаимодействия пользователя и системы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Веб интерфейс</vt:lpstr>
      <vt:lpstr>Телеграмм-бот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Кутьков Юрий Юрьевич</dc:creator>
  <cp:lastModifiedBy>Белов Егор Александрович</cp:lastModifiedBy>
  <cp:revision>98</cp:revision>
  <cp:lastPrinted>2021-11-11T13:08:42Z</cp:lastPrinted>
  <dcterms:created xsi:type="dcterms:W3CDTF">2021-11-11T08:52:47Z</dcterms:created>
  <dcterms:modified xsi:type="dcterms:W3CDTF">2025-06-05T17:30:29Z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0x0101002A9C74E6E830D74E9B0FDDB4017A5417</vt:lpwstr>
  </property>
</Properties>
</file>