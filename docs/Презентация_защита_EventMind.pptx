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69795"/>
  </p:normalViewPr>
  <p:slideViewPr>
    <p:cSldViewPr snapToGrid="0" snapToObjects="1">
      <p:cViewPr varScale="1">
        <p:scale>
          <a:sx n="80" d="100"/>
          <a:sy n="80" d="100"/>
        </p:scale>
        <p:origin x="180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10C3CC-7CAE-5245-9419-51312C118B47}" type="datetimeFigureOut">
              <a:rPr lang="ru-RU" smtClean="0"/>
              <a:t>26.06.2026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DA6A8A-3B81-7243-A3AE-AF4790F5F2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4886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Добрый день, уважаемая комиссия. Меня зовут Белов Егор, тема работы — Разработка приложения для агрегации информации об IT-событиях и выдачи персональных рекомендаций на основе модели пользователя; научный руководитель — Алексей Юрьевич Городилов.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917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Начну с того, зачем это нужно. </a:t>
            </a:r>
            <a:r>
              <a:rPr lang="en-US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IT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-мероприятий выходят десятки в неделю, но анонсы разбросаны по сайтам,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агрегаторам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и каналам — единой точки входа нет, и подходящее приходится отбирать вручную. Значит, события надо собрать автоматически и выстроить из них персональную ленту.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8490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Если строго: объект работы — процессы агрегации событий и построения рекомендаций, предмет — программная система, объединяющая сбор,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рекомендатель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и интерфейс вокруг общей базы данных.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0436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Отсюда цель и задачи. Задачи задают весь маршрут — от анализа предметной области и подходов до реализации алгоритма, интерфейса с обратной связью и оценки качества.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1063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Сначала — что не так в самой области. Из пяти проблем ключевые две: рекомендации обычно даются без объяснения, почему предложено именно это событие, и не учитывают уровень и карьерную цель пользователя. На них работа нацелена в первую очередь.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514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Обзор существующих решений это подтверждает: каждое закрывает задачу лишь частично. Универсальные площадки не специализированы на </a:t>
            </a:r>
            <a:r>
              <a:rPr lang="en-US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IT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тематические не строят персональных подборок, в каналах сообществ нет ни поиска, ни персонализации. Объединить агрегацию, учёт реакций и объяснимость не пытается ни одно — вот и ниша работы.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955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Раз готового решения нет, я разобрал, на чём строят рекомендации. Контентный подход сравнивает событие с интересами — работает уже при одном пользователе и объясним, но даёт узкую выдачу.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Коллаборативный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смотрит, что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лайкали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похожие люди, находит неочевидное, но страдает от холодного старта. Семантический сравнивает тексты по смыслу, снимая проблему синонимов и языков. Контекстный бандит добавляет онлайн-обучение. Ни один не самодостаточен — слабость каждого закрывает сильная сторона другого, поэтому за основу взят гибридный подход: объясним за счёт контентной части и устойчив к холодному старту.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0823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Как это выглядит для пользователя: настройка профиля, персональная лента с объяснениями, оценки и сохранения, поиск обычным языком и дайджест; администратору — загрузка событий и аналитика.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3756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А вот тот же путь как процесс целиком — от сбора и нормализации событий до доставки ленты и обработки обратной связи, которая дальше уточняет рекомендации. Ключевые блоки разберу по отдельности.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76747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Технически система — три независимых процесса вокруг общей базы. Первый — серверная часть на </a:t>
            </a:r>
            <a:r>
              <a:rPr lang="en-US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FastAPI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: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эндпоинты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рекомендатель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генерация объяснений и отбор кандидатов по вектору.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002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Второй — </a:t>
            </a:r>
            <a:r>
              <a:rPr lang="en-US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Telegram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-бот: команды, мастер настройки профиля и карточки событий с кнопками. Бот выбран как интерфейс — не требует установки и работает там, где пользователь и так читает анонсы.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1012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Третий — планировщик: фоновое, что не должно замедлять пользователя, — рассылка дайджеста, периодический сбор событий и прогрев векторов.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92837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Всё держится на модели данных, а она и есть модель пользователя. По каждому хранится несколько слоёв: профиль с весами интересов, реакции, вектор предпочтений, статистика по темам, состояние бандита и заметки памяти о целях. Векторы лежат в </a:t>
            </a:r>
            <a:r>
              <a:rPr lang="en-US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pgvector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поэтому близкие по смыслу события ищутся на стороне базы.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6937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И мы подходим к сердцу работы —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рекомендателю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 Для каждого события он считает девять сигналов и складывает во взвешенную сумму: не один «правильный» алгоритм, а ансамбль, где каждый сигнал отвечает за свой аспект и страхует остальные. Самый весомый — семантическая близость: интересы и описание сравниваются по смыслу, поэтому «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нейросети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» и «глубокое обучение» система считает близкими. Правила профиля дают прямое совпадение тем, формата и города — грубый, но честный и объяснимый сигнал. Байесовская статистика методом Томпсона учитывает реакции по каждой теме, причём старые затухают, чтобы успевать за сменой интересов. Две оценки модели — качество и актуальность — намеренно с малым весом. Свежесть поднимает ближайшие события. Соответствие карьерной цели сравнивает желаемые навыки со стеком события — тот самый учёт цели, которого нет у обычных афиш. Контекстный бандит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дообучается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на лету и даёт бонус за исследование нового. Девятый,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коллаборативный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отключён осознанно — на малых данных он шумит. Поверх суммы —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переранжирование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MMR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: жертвует малой долей релевантности ради разнообразия, чтобы в топе не было пяти одинаковых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митапов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плюс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антиповтор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серий. И каждый сигнал изолирован, так что сбой одного не ломает выдачу.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15644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По шагам это так: гибрид считает девять сигналов, складывает в балл, сортирует,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переранжирует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и берёт лучшие. Важная деталь — объяснения формирует один вызов модели сразу на все события, а не на каждое отдельно, это экономит время ответа и лимиты бесплатных моделей. И пишет модель строго по реальным данным события — это </a:t>
            </a:r>
            <a:r>
              <a:rPr lang="en-US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RAG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поэтому ничего не выдумывает. Замыкает цикл обратная связь: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лайк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дизлайк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или сохранение сразу обновляют профиль, статистику и бандит, и лента подстраивается почти мгновенно.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9147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Вернусь к началу — откуда берутся события. Данные приходят из шести источников в таблицу сырых записей и нормализуются языковой моделью с проверкой типов и дат. Здесь решены два затруднения: дубликаты отсекаются по близости векторов, а повторный сбор идемпотентен — событие не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задваивается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9189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Раз система так завязана на языковые модели — про надёжность. Принцип — плавная деградация на двух уровнях: модели подключены цепочкой, основная </a:t>
            </a:r>
            <a:r>
              <a:rPr lang="en-US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Gemini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при сбое запрос уходит на резервные </a:t>
            </a:r>
            <a:r>
              <a:rPr lang="en-US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Groq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; а если отказывает целый компонент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рекомендателя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, система откатывается к выдаче по правилам. При любом сбое пользователь всё равно получает ленту.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01818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Осталось показать, что это работает. Качество я проверил двумя независимыми способами. Первый —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оффлайн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leave-one-out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: у пользователя скрываю одно понравившееся событие и смотрю, вернёт ли система его в топ. Гибрид заметно обходит базовое правило: нужное событие встаёт выше в выдаче. На топ-10 разрыв сглаживается — но гибрид находит релевантное раньше, а для ленты важно именно это. Второй — оценка моделью-судьёй: по релевантности гибрид лучше, по разнообразию немного уступает. Это осознанный компромисс, который регулируется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переранжированием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. Все измерения воспроизводимы, код покрыт тестами.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8377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Подведу итог. Все задачи выполнены: собрана рабочая система из сервера, бота и планировщика вокруг общей базы; реализован гибридный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рекомендатель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из девяти компонент с объяснением выбора; настроен сбор из шести источников с нормализацией и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дедупликацией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; качество подтверждено метриками и тестами. Направления развития — расширение источников, </a:t>
            </a:r>
            <a:r>
              <a:rPr lang="ru-RU" sz="1800" dirty="0" err="1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коллаборативный</a:t>
            </a:r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 сигнал на большем наборе данных и развитие работы в магистерскую.</a:t>
            </a:r>
            <a:r>
              <a:rPr lang="ru-RU" dirty="0">
                <a:effectLst/>
              </a:rPr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44209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На этом всё. </a:t>
            </a:r>
            <a:r>
              <a:rPr lang="ru-RU" sz="1800">
                <a:effectLst/>
                <a:latin typeface="Cambria" panose="020405030504060302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Благодарю за внимание и готов ответить на ваши вопросы.</a:t>
            </a:r>
            <a:r>
              <a:rPr lang="ru-RU">
                <a:effectLst/>
              </a:rPr>
              <a:t> 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DA6A8A-3B81-7243-A3AE-AF4790F5F296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5447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6012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57400" y="960120"/>
            <a:ext cx="4206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HSE Sans"/>
              </a:rPr>
              <a:t>Национальный исследовательский университет</a:t>
            </a:r>
          </a:p>
          <a:p>
            <a:r>
              <a:rPr sz="1200" b="1">
                <a:solidFill>
                  <a:srgbClr val="0F2C68"/>
                </a:solidFill>
                <a:latin typeface="HSE Sans"/>
              </a:rPr>
              <a:t>«Высшая школа экономики» — Пермь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960120"/>
            <a:ext cx="2743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>
                <a:solidFill>
                  <a:srgbClr val="595959"/>
                </a:solidFill>
                <a:latin typeface="HSE Sans"/>
              </a:rPr>
              <a:t>Магистерская программа</a:t>
            </a:r>
          </a:p>
          <a:p>
            <a:r>
              <a:rPr sz="1200" b="1">
                <a:solidFill>
                  <a:srgbClr val="0F2C68"/>
                </a:solidFill>
                <a:latin typeface="HSE Sans"/>
              </a:rPr>
              <a:t>«Бизнес-аналитика»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960120"/>
            <a:ext cx="1554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33272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dirty="0" err="1">
                <a:solidFill>
                  <a:srgbClr val="0F2C68"/>
                </a:solidFill>
                <a:latin typeface="HSE Sans"/>
              </a:rPr>
              <a:t>Разработка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приложения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для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агрегации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информации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об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IT-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событиях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выдачи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персональных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на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основе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модели</a:t>
            </a:r>
            <a:r>
              <a:rPr sz="27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700" b="1" dirty="0" err="1">
                <a:solidFill>
                  <a:srgbClr val="0F2C68"/>
                </a:solidFill>
                <a:latin typeface="HSE Sans"/>
              </a:rPr>
              <a:t>пользователя</a:t>
            </a:r>
            <a:endParaRPr sz="2700" b="1" dirty="0">
              <a:solidFill>
                <a:srgbClr val="0F2C68"/>
              </a:solidFill>
              <a:latin typeface="HSE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>
                <a:solidFill>
                  <a:srgbClr val="595959"/>
                </a:solidFill>
                <a:latin typeface="HSE Sans"/>
              </a:rPr>
              <a:t>Работу выполнил студент:</a:t>
            </a:r>
          </a:p>
          <a:p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57200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>
                <a:solidFill>
                  <a:srgbClr val="595959"/>
                </a:solidFill>
                <a:latin typeface="HSE Sans"/>
              </a:rPr>
              <a:t>Научный руководитель:</a:t>
            </a:r>
          </a:p>
          <a:p>
            <a:r>
              <a:rPr sz="1200">
                <a:solidFill>
                  <a:srgbClr val="595959"/>
                </a:solidFill>
                <a:latin typeface="HSE Sans"/>
              </a:rPr>
              <a:t>Доцент кафедры информационных технологий в бизнесе</a:t>
            </a:r>
          </a:p>
          <a:p>
            <a:r>
              <a:rPr sz="1600" b="1">
                <a:solidFill>
                  <a:srgbClr val="0F2C68"/>
                </a:solidFill>
                <a:latin typeface="HSE Sans"/>
              </a:rPr>
              <a:t>Городилов А.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 и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множеству сайтов, агрегаторов и каналов — единой точки входа нет.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Отобрать подходящее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Обычные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запрос на персонализацию: лента «под меня», а не общий список.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1920240"/>
            <a:ext cx="4206240" cy="182880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Подходящие IT-события теряются в потоке анонсов из множества источников, а их отбор остаётся ручным.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069080"/>
            <a:ext cx="4206240" cy="21031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595959"/>
                </a:solidFill>
                <a:latin typeface="HSE Sans"/>
              </a:rPr>
              <a:t>Автоматический сбор событий и персональная лента с понятным объяснением выбора, учитывающая интересы и цель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303520" cy="274320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2000" b="1" dirty="0" err="1">
                <a:solidFill>
                  <a:srgbClr val="0F2C68"/>
                </a:solidFill>
                <a:latin typeface="HSE Sans"/>
              </a:rPr>
              <a:t>Объект</a:t>
            </a:r>
            <a:r>
              <a:rPr sz="2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000" b="1" dirty="0" err="1">
                <a:solidFill>
                  <a:srgbClr val="0F2C68"/>
                </a:solidFill>
                <a:latin typeface="HSE Sans"/>
              </a:rPr>
              <a:t>исследования</a:t>
            </a:r>
            <a:endParaRPr sz="20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600" dirty="0" err="1">
                <a:solidFill>
                  <a:srgbClr val="595959"/>
                </a:solidFill>
                <a:latin typeface="HSE Sans"/>
              </a:rPr>
              <a:t>Процессы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агрегации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информации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IT-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мероприятиях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построения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персонализированных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рекомендаций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для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пользователей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303520" cy="274320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2000" b="1" dirty="0" err="1">
                <a:solidFill>
                  <a:srgbClr val="0F2C68"/>
                </a:solidFill>
                <a:latin typeface="HSE Sans"/>
              </a:rPr>
              <a:t>Предмет</a:t>
            </a:r>
            <a:r>
              <a:rPr sz="2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2000" b="1" dirty="0" err="1">
                <a:solidFill>
                  <a:srgbClr val="0F2C68"/>
                </a:solidFill>
                <a:latin typeface="HSE Sans"/>
              </a:rPr>
              <a:t>исследования</a:t>
            </a:r>
            <a:endParaRPr sz="20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600" dirty="0" err="1">
                <a:solidFill>
                  <a:srgbClr val="595959"/>
                </a:solidFill>
                <a:latin typeface="HSE Sans"/>
              </a:rPr>
              <a:t>Программная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система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объединяющая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сбор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нормализацию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событий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гибридный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рекомендатель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пользовательский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интерфейс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вокруг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общей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базы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данных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0292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2000" b="1" dirty="0" err="1">
                <a:solidFill>
                  <a:srgbClr val="0F2C68"/>
                </a:solidFill>
                <a:latin typeface="HSE Sans"/>
              </a:rPr>
              <a:t>Цель</a:t>
            </a:r>
            <a:endParaRPr sz="20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600" dirty="0" err="1">
                <a:solidFill>
                  <a:srgbClr val="595959"/>
                </a:solidFill>
                <a:latin typeface="HSE Sans"/>
              </a:rPr>
              <a:t>Разработать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систему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которая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автоматически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собирает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анонсы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IT-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мероприятий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из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множества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источников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,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нормализует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их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и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строит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для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каждого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пользователя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персональную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ленту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рекомендаций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с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понятным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объяснением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 </a:t>
            </a:r>
            <a:r>
              <a:rPr sz="1600" dirty="0" err="1">
                <a:solidFill>
                  <a:srgbClr val="595959"/>
                </a:solidFill>
                <a:latin typeface="HSE Sans"/>
              </a:rPr>
              <a:t>выбора</a:t>
            </a:r>
            <a:r>
              <a:rPr sz="1600" dirty="0">
                <a:solidFill>
                  <a:srgbClr val="595959"/>
                </a:solidFill>
                <a:latin typeface="HSE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753362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 err="1">
                <a:solidFill>
                  <a:srgbClr val="0F2C68"/>
                </a:solidFill>
                <a:latin typeface="HSE Sans"/>
              </a:rPr>
              <a:t>Задачи</a:t>
            </a:r>
            <a:endParaRPr sz="2000" b="1" dirty="0">
              <a:solidFill>
                <a:srgbClr val="0F2C68"/>
              </a:solidFill>
              <a:latin typeface="HSE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852160" y="2302002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Анализ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предметной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области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существующих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решений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Анализ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подходов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к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построению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Проектирование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архитектуры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системы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Сбор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автоматическая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нормализация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событий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из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разных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источников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Реализация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гибридного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алгоритма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Разработка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пользовательского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интерфейса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обратной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связи</a:t>
            </a:r>
            <a:endParaRPr sz="1550" b="0" dirty="0">
              <a:solidFill>
                <a:srgbClr val="0F2C68"/>
              </a:solidFill>
              <a:latin typeface="HSE Sans"/>
            </a:endParaRPr>
          </a:p>
          <a:p>
            <a:pPr>
              <a:spcAft>
                <a:spcPts val="1100"/>
              </a:spcAft>
            </a:pPr>
            <a:r>
              <a:rPr sz="1550" b="0" dirty="0">
                <a:solidFill>
                  <a:srgbClr val="0F2C68"/>
                </a:solidFill>
                <a:latin typeface="HSE Sans"/>
              </a:rPr>
              <a:t>• 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Тестирование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и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оценка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качества</a:t>
            </a:r>
            <a:r>
              <a:rPr sz="1550" b="0" dirty="0">
                <a:solidFill>
                  <a:srgbClr val="0F2C68"/>
                </a:solidFill>
                <a:latin typeface="HSE Sans"/>
              </a:rPr>
              <a:t> </a:t>
            </a:r>
            <a:r>
              <a:rPr sz="1550" b="0" dirty="0" err="1">
                <a:solidFill>
                  <a:srgbClr val="0F2C68"/>
                </a:solidFill>
                <a:latin typeface="HSE Sans"/>
              </a:rPr>
              <a:t>рекомендаций</a:t>
            </a:r>
            <a:endParaRPr sz="1550" b="0" dirty="0">
              <a:solidFill>
                <a:srgbClr val="0F2C68"/>
              </a:solidFill>
              <a:latin typeface="HSE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Проблемы предметной области</a:t>
            </a:r>
          </a:p>
        </p:txBody>
      </p:sp>
      <p:sp>
        <p:nvSpPr>
          <p:cNvPr id="8" name="Oval 7"/>
          <p:cNvSpPr/>
          <p:nvPr/>
        </p:nvSpPr>
        <p:spPr>
          <a:xfrm>
            <a:off x="4038447" y="315468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dirty="0" err="1">
                <a:solidFill>
                  <a:srgbClr val="FFFFFF"/>
                </a:solidFill>
                <a:latin typeface="HSE Sans"/>
              </a:rPr>
              <a:t>Проблемы</a:t>
            </a:r>
            <a:endParaRPr sz="2700" b="1" dirty="0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9" name="Oval 8"/>
          <p:cNvSpPr/>
          <p:nvPr/>
        </p:nvSpPr>
        <p:spPr>
          <a:xfrm>
            <a:off x="950976" y="1800726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dirty="0" err="1">
                <a:solidFill>
                  <a:srgbClr val="FFFFFF"/>
                </a:solidFill>
                <a:latin typeface="HSE Sans"/>
              </a:rPr>
              <a:t>Разрозненность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источников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событий</a:t>
            </a:r>
            <a:endParaRPr sz="1600" b="0" dirty="0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0" name="Oval 9"/>
          <p:cNvSpPr/>
          <p:nvPr/>
        </p:nvSpPr>
        <p:spPr>
          <a:xfrm>
            <a:off x="594360" y="4329363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dirty="0" err="1">
                <a:solidFill>
                  <a:srgbClr val="FFFFFF"/>
                </a:solidFill>
                <a:latin typeface="HSE Sans"/>
              </a:rPr>
              <a:t>Информационный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шум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и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дубли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анонсов</a:t>
            </a:r>
            <a:endParaRPr sz="1600" b="0" dirty="0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457700" y="5167964"/>
            <a:ext cx="3246120" cy="128016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dirty="0" err="1">
                <a:solidFill>
                  <a:srgbClr val="FFFFFF"/>
                </a:solidFill>
                <a:latin typeface="HSE Sans"/>
              </a:rPr>
              <a:t>Нет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учёта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уровня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и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карьерной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цели</a:t>
            </a:r>
            <a:endParaRPr sz="1600" b="0" dirty="0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7726680" y="173736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dirty="0" err="1">
                <a:solidFill>
                  <a:srgbClr val="FFFFFF"/>
                </a:solidFill>
                <a:latin typeface="HSE Sans"/>
              </a:rPr>
              <a:t>Рекомендации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без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объяснения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выбора</a:t>
            </a:r>
            <a:endParaRPr sz="1600" b="0" dirty="0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8153247" y="4329363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dirty="0" err="1">
                <a:solidFill>
                  <a:srgbClr val="FFFFFF"/>
                </a:solidFill>
                <a:latin typeface="HSE Sans"/>
              </a:rPr>
              <a:t>Ручная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фильтрация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отнимает</a:t>
            </a:r>
            <a:r>
              <a:rPr sz="1600" b="0" dirty="0">
                <a:solidFill>
                  <a:srgbClr val="FFFFFF"/>
                </a:solidFill>
                <a:latin typeface="HSE Sans"/>
              </a:rPr>
              <a:t> </a:t>
            </a:r>
            <a:r>
              <a:rPr sz="1600" b="0" dirty="0" err="1">
                <a:solidFill>
                  <a:srgbClr val="FFFFFF"/>
                </a:solidFill>
                <a:latin typeface="HSE Sans"/>
              </a:rPr>
              <a:t>время</a:t>
            </a:r>
            <a:endParaRPr sz="1600" b="0" dirty="0">
              <a:solidFill>
                <a:srgbClr val="FFFFFF"/>
              </a:solidFill>
              <a:latin typeface="HSE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Анализ существующих решений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11201399" cy="4206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Решение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Сильные стороны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Ограничения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Универсальные площадки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(Timepad, Meetup, Eventbrite)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Фильтры по категориям, городам и датам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 специализированы на IT, не учитывают поведение пользователя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Тематические IT-площадки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(Habr Events)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Релевантный контент по теме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Нет модели интересов и регулярных персональных подборок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Профессиональные сети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(LinkedIn Events)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Связь с профессиональным профилем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Фокус на карьерных событиях, мало митапов и конференций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Каналы сообществ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(Telegram)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Оперативные анонсы из первых рук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Нет организованного поиска и персонализации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Разрабатываемая система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Агрегация из источников, учёт реакций, объяснимые рекомендации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Снимает разрозненность, добавляет персонализацию и дайджест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Ни одно из решений не объединяет агрегацию из разных источников, учёт неявной обратной связи и объяснимость.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37360"/>
          <a:ext cx="11201400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314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системе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По содержанию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(rule + cosine)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Базовые правила + близость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неожиданные находки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(эмбеддинги)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Баланс новизны и точности, онлайн-адаптация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гибрида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31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Долговременная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память (mem0)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Запоминает цели и интересы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LLM, риск устаревания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Семантический поиск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31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F2C68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E3F0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8" name="Picture 7" descr="01_use_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1533906"/>
            <a:ext cx="5529834" cy="51271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828800"/>
            <a:ext cx="4023360" cy="21031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Пользователь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595959"/>
                </a:solidFill>
                <a:latin typeface="HSE Sans"/>
              </a:rPr>
              <a:t>Настройка профиля, персональная лента, объяснения, оценки и сохранения, поиск обычным языком, дайджест.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4114800"/>
            <a:ext cx="4023360" cy="173736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Администратор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595959"/>
                </a:solidFill>
                <a:latin typeface="HSE Sans"/>
              </a:rPr>
              <a:t>Загрузка событий из источников и просмотр аналитики по системе.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8" name="Picture 7" descr="02_business_pro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663" y="1691640"/>
            <a:ext cx="10576192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серверная часть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m85p2vo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2866" y="1691640"/>
            <a:ext cx="5627947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«серверная часть».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11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Telegram-бот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b7fwq1j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9690" y="1691640"/>
            <a:ext cx="5454298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«Telegram-бот».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Архитектура: планировщик</a:t>
            </a:r>
          </a:p>
        </p:txBody>
      </p:sp>
      <p:pic>
        <p:nvPicPr>
          <p:cNvPr id="8" name="Picture 7" descr="03_c4_contai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045" y="1554480"/>
            <a:ext cx="4120948" cy="4846320"/>
          </a:xfrm>
          <a:prstGeom prst="rect">
            <a:avLst/>
          </a:prstGeom>
        </p:spPr>
      </p:pic>
      <p:pic>
        <p:nvPicPr>
          <p:cNvPr id="9" name="Picture 8" descr="tmpmuntr2k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1903016"/>
            <a:ext cx="5760719" cy="41035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Слева — общая схема на уровне контейнеров; справа — приближён модуль «планировщик».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2921168"/>
            <a:ext cx="2160270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0F2C68"/>
                </a:solidFill>
                <a:latin typeface="HSE Sans"/>
              </a:rPr>
              <a:t>Модель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данных</a:t>
            </a:r>
            <a:endParaRPr sz="3000" b="1" dirty="0">
              <a:solidFill>
                <a:srgbClr val="0F2C68"/>
              </a:solidFill>
              <a:latin typeface="HSE Sans"/>
            </a:endParaRPr>
          </a:p>
        </p:txBody>
      </p:sp>
      <p:pic>
        <p:nvPicPr>
          <p:cNvPr id="8" name="Picture 7" descr="04_er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0459" y="557784"/>
            <a:ext cx="6942125" cy="5742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Связи проведены от ключа к ключу (PK → FK): пользователи, события, взаимодействия, векторы, состояние бандита и память.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9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по правилам,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по содержанию, 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оценка LLM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оценка LLM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затухание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учёт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цели пользователя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контекстный LinUCB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новизны и точности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LightGCN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конфигурацией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Переранжирование MMR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Антиповтор серий: один выпуск из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изолирована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Кэш выдачи на 15 минут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19" y="2763315"/>
            <a:ext cx="2735477" cy="101566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 dirty="0" err="1">
                <a:solidFill>
                  <a:srgbClr val="0F2C68"/>
                </a:solidFill>
                <a:latin typeface="HSE Sans"/>
              </a:rPr>
              <a:t>Как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строится</a:t>
            </a:r>
            <a:r>
              <a:rPr sz="30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3000" b="1" dirty="0" err="1">
                <a:solidFill>
                  <a:srgbClr val="0F2C68"/>
                </a:solidFill>
                <a:latin typeface="HSE Sans"/>
              </a:rPr>
              <a:t>рекомендация</a:t>
            </a:r>
            <a:endParaRPr sz="3000" b="1" dirty="0">
              <a:solidFill>
                <a:srgbClr val="0F2C68"/>
              </a:solidFill>
              <a:latin typeface="HSE Sans"/>
            </a:endParaRPr>
          </a:p>
        </p:txBody>
      </p:sp>
      <p:pic>
        <p:nvPicPr>
          <p:cNvPr id="8" name="Picture 7" descr="05_sequence_recomm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749468"/>
            <a:ext cx="8754971" cy="53823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Запрос ленты → гибрид отбирает top-N → один вызов LLM пишет объяснения пакетом (по найденным фактам, без выдумок).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8" name="Picture 7" descr="06_activity_normaliz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979081"/>
            <a:ext cx="11430000" cy="22597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663440"/>
            <a:ext cx="5394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Сырьё → таблица raw_events → нормализация через LLM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Проверка типов и дат (Pydantic)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63440"/>
            <a:ext cx="51206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Поиск дубликатов по вектору (pgvector, cosine ≥ 0.92)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2C68"/>
                </a:solidFill>
                <a:latin typeface="HSE Sans"/>
              </a:rPr>
              <a:t>•  Пакетная нормализация с адаптивным размером порции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Цепочка LLM и надёжность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5486400" cy="33832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1.  Gemini — основной (транспорт REST, автоподбор модели)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2.  Groq llama-3.3-70b — резерв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3.  Groq llama-3.1-8b — крайний резерв</a:t>
            </a:r>
          </a:p>
          <a:p>
            <a:pPr>
              <a:spcBef>
                <a:spcPts val="300"/>
              </a:spcBef>
            </a:pPr>
            <a:endParaRPr sz="135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Предохранитель: 5 сбоёв подряд → пауза 120 с.</a:t>
            </a:r>
          </a:p>
          <a:p>
            <a:pPr>
              <a:spcBef>
                <a:spcPts val="300"/>
              </a:spcBef>
            </a:pPr>
            <a:r>
              <a:rPr sz="1350">
                <a:solidFill>
                  <a:srgbClr val="595959"/>
                </a:solidFill>
                <a:latin typeface="HSE Sans"/>
              </a:rPr>
              <a:t>Пауза по провайдеру: 2 сбоя → пропуск на 10 минут.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Плавная деградация на двух уровнях: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гибрид → выдача только по правилам при сбое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Общий секрет X-API-Key + логирование запросов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Очистка пользовательского ввода от инъекций в промпт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Выдача только на чтение + кэш рекомендаций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2C68"/>
                </a:solidFill>
                <a:latin typeface="HSE Sans"/>
              </a:rPr>
              <a:t>Оффлайн-оценка (Recall@k / nDCG@k)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920240"/>
          <a:ext cx="1115568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Recall@5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Recall@10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nDCG@5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nDCG@10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3886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2C68"/>
                </a:solidFill>
                <a:latin typeface="HSE Sans"/>
              </a:rPr>
              <a:t>Оценка LLM-судьёй (шкала 1–5)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297680"/>
          <a:ext cx="640080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Релевантность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Разнообразие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23760" y="429768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Гибрид превосходит базовое правило по Recall@5 (0,65 против 0,50) и nDCG@5 (0,38 против 0,26).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369 автотестов; оценка по воспроизводимым скриптам (seed=42).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19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14400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сервер, бот и планировщик вокруг общей базы данных (PostgreSQL + pgvector).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объяснением выбора.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автоматической нормализацией и дедупликацией.</a:t>
            </a:r>
          </a:p>
          <a:p>
            <a:pPr>
              <a:spcAft>
                <a:spcPts val="12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83080"/>
            <a:ext cx="5303520" cy="329184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tIns="101600" rIns="101600" bIns="101600" rtlCol="0" anchor="t"/>
          <a:lstStyle/>
          <a:p>
            <a:pPr algn="ctr"/>
            <a:r>
              <a:rPr sz="1500" b="1" dirty="0" err="1">
                <a:solidFill>
                  <a:srgbClr val="0F2C68"/>
                </a:solidFill>
                <a:latin typeface="HSE Sans"/>
              </a:rPr>
              <a:t>Направления</a:t>
            </a:r>
            <a:r>
              <a:rPr sz="1500" b="1" dirty="0">
                <a:solidFill>
                  <a:srgbClr val="0F2C68"/>
                </a:solidFill>
                <a:latin typeface="HSE Sans"/>
              </a:rPr>
              <a:t> </a:t>
            </a:r>
            <a:r>
              <a:rPr sz="1500" b="1" dirty="0" err="1">
                <a:solidFill>
                  <a:srgbClr val="0F2C68"/>
                </a:solidFill>
                <a:latin typeface="HSE Sans"/>
              </a:rPr>
              <a:t>развития</a:t>
            </a:r>
            <a:endParaRPr sz="1500" b="1" dirty="0">
              <a:solidFill>
                <a:srgbClr val="0F2C68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Расширение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списка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источников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событий</a:t>
            </a:r>
            <a:endParaRPr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Включение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коллаборативного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сигнала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на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большем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наборе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данных</a:t>
            </a:r>
            <a:endParaRPr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Расширение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пользовательских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сценариев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бота</a:t>
            </a:r>
            <a:endParaRPr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Сравнительное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тестирование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весов</a:t>
            </a:r>
            <a:r>
              <a:rPr sz="1350" dirty="0">
                <a:solidFill>
                  <a:srgbClr val="595959"/>
                </a:solidFill>
                <a:latin typeface="HSE Sans"/>
              </a:rPr>
              <a:t> </a:t>
            </a:r>
            <a:r>
              <a:rPr sz="1350" dirty="0" err="1">
                <a:solidFill>
                  <a:srgbClr val="595959"/>
                </a:solidFill>
                <a:latin typeface="HSE Sans"/>
              </a:rPr>
              <a:t>рекомендатора</a:t>
            </a:r>
            <a:endParaRPr lang="ru-RU" sz="1350" dirty="0">
              <a:solidFill>
                <a:srgbClr val="595959"/>
              </a:solidFill>
              <a:latin typeface="HSE Sans"/>
            </a:endParaRPr>
          </a:p>
          <a:p>
            <a:pPr>
              <a:spcBef>
                <a:spcPts val="300"/>
              </a:spcBef>
            </a:pPr>
            <a:r>
              <a:rPr lang="ru-RU" sz="1350" dirty="0">
                <a:solidFill>
                  <a:srgbClr val="595959"/>
                </a:solidFill>
                <a:latin typeface="HSE Sans"/>
              </a:rPr>
              <a:t>• </a:t>
            </a:r>
            <a:r>
              <a:rPr lang="ru-RU" sz="1350" dirty="0">
                <a:solidFill>
                  <a:srgbClr val="595959"/>
                </a:solidFill>
              </a:rPr>
              <a:t>Расширение интерфейсов для пользователей</a:t>
            </a:r>
            <a:endParaRPr sz="1350" dirty="0">
              <a:solidFill>
                <a:srgbClr val="595959"/>
              </a:solidFill>
              <a:latin typeface="HSE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ntent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_mo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182880"/>
            <a:ext cx="47548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46304"/>
            <a:ext cx="768096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8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15400" y="146304"/>
            <a:ext cx="205740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>
                <a:solidFill>
                  <a:srgbClr val="595959"/>
                </a:solidFill>
                <a:latin typeface="HSE Sans"/>
              </a:rPr>
              <a:t>Защита курсовой,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146304"/>
            <a:ext cx="777240" cy="6766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50" b="1">
                <a:solidFill>
                  <a:srgbClr val="0F2C68"/>
                </a:solidFill>
                <a:latin typeface="HSE Sans"/>
              </a:rPr>
              <a:t>20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2286000"/>
            <a:ext cx="905256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4663440"/>
            <a:ext cx="9052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«Бизнес-аналитика»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2722</Words>
  <Application>Microsoft Macintosh PowerPoint</Application>
  <PresentationFormat>Широкоэкранный</PresentationFormat>
  <Paragraphs>327</Paragraphs>
  <Slides>20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HSE Sans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Белов Егор Александрович</cp:lastModifiedBy>
  <cp:revision>4</cp:revision>
  <dcterms:created xsi:type="dcterms:W3CDTF">2013-01-27T09:14:16Z</dcterms:created>
  <dcterms:modified xsi:type="dcterms:W3CDTF">2026-06-26T06:46:01Z</dcterms:modified>
  <cp:category/>
</cp:coreProperties>
</file>