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71" r:id="rId5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11"/>
    <p:sldId id="285" r:id="rId10"/>
    <p:sldId id="286" r:id="rId9"/>
    <p:sldId id="287" r:id="rId8"/>
    <p:sldId id="288" r:id="rId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46"/>
    <a:srgbClr val="029C63"/>
    <a:srgbClr val="96628C"/>
    <a:srgbClr val="11A0D7"/>
    <a:srgbClr val="E61F3D"/>
    <a:srgbClr val="CD5A5A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81404" autoAdjust="0"/>
  </p:normalViewPr>
  <p:slideViewPr>
    <p:cSldViewPr snapToGrid="0" snapToObjects="1">
      <p:cViewPr varScale="1">
        <p:scale>
          <a:sx n="93" d="100"/>
          <a:sy n="93" d="100"/>
        </p:scale>
        <p:origin x="1554" y="84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18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5.xml"/><Relationship Id="rId11" Type="http://schemas.openxmlformats.org/officeDocument/2006/relationships/slide" Target="slides/slide14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notesMaster" Target="notesMasters/notes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06/05/2025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Добрый день, уважаемая комиссия, тема моей работы Разработка приложения для распознавания и поиска объектов на видеоизображении в социальных сетях, научный руководитель Замятина Елена Борисовна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33094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9616" y="258680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747573" y="189688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684653" y="239854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255590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192024"/>
            <a:ext cx="93667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fld id="{32AF94B5-93D7-5247-B727-C7089232F508}" type="slidenum">
              <a:rPr lang="ru-RU" sz="105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r>
              <a:rPr lang="en-US" sz="1050" dirty="0">
                <a:solidFill>
                  <a:srgbClr val="102D69"/>
                </a:solidFill>
                <a:latin typeface="HSE Sans" panose="02000000000000000000" pitchFamily="2" charset="0"/>
              </a:rPr>
              <a:t> / </a:t>
            </a:r>
            <a:r>
              <a:rPr lang="ru-RU" sz="1050" dirty="0">
                <a:solidFill>
                  <a:srgbClr val="102D69"/>
                </a:solidFill>
                <a:latin typeface="HSE Sans" panose="02000000000000000000" pitchFamily="2" charset="0"/>
              </a:rPr>
              <a:t>18</a:t>
            </a: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239854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243698"/>
            <a:ext cx="2470764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Разработка приложения для распознавания и поиска объектов на видеоизображении в социальных сетях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6586" y="234170"/>
            <a:ext cx="102971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Белов Егор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1393" y="243698"/>
            <a:ext cx="1130122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Защита ВКР</a:t>
            </a:r>
          </a:p>
          <a:p>
            <a:r>
              <a:rPr lang="ru-RU" sz="1000" dirty="0">
                <a:latin typeface="HSE Sans" panose="02000000000000000000" pitchFamily="2" charset="0"/>
              </a:rPr>
              <a:t>Пермь</a:t>
            </a:r>
          </a:p>
          <a:p>
            <a:r>
              <a:rPr lang="ru-RU" sz="1000" dirty="0">
                <a:latin typeface="HSE Sans" panose="02000000000000000000" pitchFamily="2" charset="0"/>
              </a:rPr>
              <a:t>06.06.2025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9449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 / 26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0"/>
            <a:ext cx="10104631" cy="1978323"/>
          </a:xfrm>
        </p:spPr>
        <p:txBody>
          <a:bodyPr wrap="square">
            <a:normAutofit fontScale="90000"/>
          </a:bodyPr>
          <a:lstStyle/>
          <a:p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sz="2600" b="1">
                <a:solidFill>
                  <a:srgbClr val="0F2C68"/>
                </a:solidFill>
                <a:latin typeface="HSE Sans"/>
              </a:rPr>
              <a:t>Разработка приложения для агрегации информации об IT-событиях и выдачи персональных рекомендаций на основе модели пользователя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wrap="square"/>
          <a:lstStyle/>
          <a:p>
            <a:br>
              <a:rPr lang="ru-RU" dirty="0"/>
            </a:br>
            <a:r>
              <a:rPr sz="1400">
                <a:latin typeface="HSE Sans"/>
              </a:rPr>
              <a:t>Пермь</a:t>
            </a:r>
            <a:endParaRPr lang="ru-RU" dirty="0"/>
          </a:p>
          <a:p>
            <a:r>
              <a:rPr sz="1400">
                <a:latin typeface="HSE Sans"/>
              </a:rPr>
              <a:t>2026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14690F36-FB51-4F4B-99B0-413E412326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967" y="4471732"/>
            <a:ext cx="5434244" cy="654050"/>
          </a:xfrm>
        </p:spPr>
        <p:txBody>
          <a:bodyPr wrap="square">
            <a:normAutofit/>
          </a:bodyPr>
          <a:lstStyle/>
          <a:p>
            <a:r>
              <a:rPr sz="1800">
                <a:latin typeface="HSE Sans"/>
              </a:rPr>
              <a:t>Работу выполнил студент: </a:t>
            </a:r>
            <a:r>
              <a:rPr sz="1800" b="1">
                <a:latin typeface="HSE Sans"/>
              </a:rPr>
              <a:t>Белов Е.А.</a:t>
            </a:r>
            <a:endParaRPr lang="ru-RU" sz="210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FCE93C6-82A9-45CB-9F11-05B8D054F948}"/>
              </a:ext>
            </a:extLst>
          </p:cNvPr>
          <p:cNvSpPr txBox="1">
            <a:spLocks/>
          </p:cNvSpPr>
          <p:nvPr/>
        </p:nvSpPr>
        <p:spPr>
          <a:xfrm>
            <a:off x="7191909" y="4408043"/>
            <a:ext cx="4119937" cy="1407129"/>
          </a:xfrm>
          <a:prstGeom prst="rect">
            <a:avLst/>
          </a:prstGeom>
        </p:spPr>
        <p:txBody>
          <a:bodyPr vert="horz" lIns="0" tIns="0" rIns="0" bIns="0" rtlCol="0"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>
                <a:latin typeface="HSE Sans"/>
              </a:rPr>
              <a:t>Руководитель:</a:t>
            </a:r>
            <a:endParaRPr lang="ru-RU" sz="2000" dirty="0"/>
          </a:p>
          <a:p>
            <a:r>
              <a:rPr sz="1400">
                <a:latin typeface="HSE Sans"/>
              </a:rPr>
              <a:t>Доцент кафедры информационных технологий в бизнесе</a:t>
            </a:r>
          </a:p>
          <a:p>
            <a:r>
              <a:rPr sz="1400" b="1">
                <a:latin typeface="HSE Sans"/>
              </a:rPr>
              <a:t>Городилов А.Ю.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93AC612D-B865-4650-A821-BE0DF0BD1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98695"/>
            <a:ext cx="2278063" cy="463186"/>
          </a:xfrm>
        </p:spPr>
        <p:txBody>
          <a:bodyPr wrap="square"/>
          <a:lstStyle/>
          <a:p>
            <a:r>
              <a:rPr sz="1200">
                <a:latin typeface="HSE Sans"/>
              </a:rPr>
              <a:t>«Бизнес-аналитика»</a:t>
            </a:r>
            <a:endParaRPr lang="ru-RU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662F2909-31F3-4434-BB7F-534E5BFDC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4947" y="1187841"/>
            <a:ext cx="3848717" cy="435163"/>
          </a:xfrm>
        </p:spPr>
        <p:txBody>
          <a:bodyPr wrap="square"/>
          <a:lstStyle/>
          <a:p>
            <a:r>
              <a:rPr sz="1600">
                <a:latin typeface="HSE Sans"/>
              </a:rPr>
              <a:t>Факультет магистерская школа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Актуальность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583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IT-мероприятий очень много: конференции, митапы, вебинары, хакатоны идут десятками в неделю.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Анонсы разбросаны по сайтам, агрегаторам и Telegram-каналам — нет единой точки входа.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Отфильтровать релевантное по теме, уровню, формату и городу — ручная рутина, отнимающая время.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Классические афиши не знают карьерной цели пользователя и его истории интересов.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Растёт спрос на персонализацию: лента «под меня», а не общий список.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783080"/>
            <a:ext cx="4206240" cy="132588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Проблема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Релевантные IT-события теряются в информационном шуме десятков источников.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291840"/>
            <a:ext cx="4206240" cy="141732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Решение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Один Telegram-бот собирает события из 6 источников и строит ленту по 9 признакам с объяснением «почему именно это».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4892040"/>
            <a:ext cx="4206240" cy="1325880"/>
          </a:xfrm>
          <a:prstGeom prst="rect">
            <a:avLst/>
          </a:prstGeom>
          <a:solidFill>
            <a:srgbClr val="FDEFE3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Отличие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Учитываем не только темы, но и карьерную цель и историю реакций пользователя.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Объект и предмет исследования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303520" cy="292608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Объект исследования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Процессы агрегации информации об IT-мероприятиях и построения персонализированных рекомендаций для пользователей.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11680"/>
            <a:ext cx="5303520" cy="292608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Предмет исследования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Программная система, объединяющая сбор и нормализацию событий, гибридный рекомендатель и Telegram-интерфейс вокруг общей базы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Цель и задачи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029200" cy="301752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Цель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Разработать систему, которая автоматически собирает анонсы IT-мероприятий из множества источников, нормализует их и строит для каждого пользователя персональную ленту рекомендаций с понятным объяснением выбора.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5448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Анализ предметной области и подходов к рекомендациям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Проектирование архитектуры (API, бот, планировщик)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Сбор и AI-нормализация событий из 6 источников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Реализация гибридного рекомендатора (9 компонент)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Разработка Telegram-интерфейса и обратной связи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Тестирование и оценка качества рекомендаций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HSE Sans"/>
              </a:rPr>
              <a:t>Задачи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Oval 4"/>
          <p:cNvSpPr/>
          <p:nvPr/>
        </p:nvSpPr>
        <p:spPr>
          <a:xfrm>
            <a:off x="4041648" y="2788920"/>
            <a:ext cx="4114800" cy="1371600"/>
          </a:xfrm>
          <a:prstGeom prst="ellipse">
            <a:avLst/>
          </a:prstGeom>
          <a:solidFill>
            <a:srgbClr val="0F2C6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700" b="1">
                <a:solidFill>
                  <a:srgbClr val="FFFFFF"/>
                </a:solidFill>
                <a:latin typeface="HSE Sans"/>
              </a:rPr>
              <a:t>Проблемы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3258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Фрагментированность источников событий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2976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Информационный шум и дубли анонсов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5029200"/>
            <a:ext cx="324612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Нет персонализации под уровень и цель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13258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Рекомендации без объяснения выбора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42976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Ручная фильтрация отнимает время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Анализ подходов к рекомендациям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11201400" cy="4572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4560"/>
                <a:gridCol w="3657600"/>
                <a:gridCol w="2788920"/>
                <a:gridCol w="2560320"/>
              </a:tblGrid>
              <a:tr h="762000"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Подход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Преимущества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Недостатки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В EventMind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</a:tr>
              <a:tr h="762000">
                <a:tc>
                  <a:txBody>
                    <a:bodyPr lIns="76200" rIns="76200" tIns="38100" bIns="38100"/>
                    <a:lstStyle/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Контентный</a:t>
                      </a:r>
                    </a:p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(rule-based)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Работает при малом числе пользователей, объясним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Ограниченное разнообразие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Базовый rule + cosine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76200" rIns="76200" tIns="38100" bIns="38100"/>
                    <a:lstStyle/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Коллаборативная</a:t>
                      </a:r>
                    </a:p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фильтрация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Скрытые закономерности, серендипити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Холодный старт, нужны объёмы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LightGCN (эксперим.)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762000">
                <a:tc>
                  <a:txBody>
                    <a:bodyPr lIns="76200" rIns="76200" tIns="38100" bIns="38100"/>
                    <a:lstStyle/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Семантический</a:t>
                      </a:r>
                    </a:p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(embeddings)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Учёт смысла, многоязычность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Затраты на векторы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MiniLM + pgvector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76200" rIns="76200" tIns="38100" bIns="38100"/>
                    <a:lstStyle/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Контекстный</a:t>
                      </a:r>
                    </a:p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бандит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Баланс exploration/exploitation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Настройка признаков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LinUCB поверх hybrid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762000">
                <a:tc>
                  <a:txBody>
                    <a:bodyPr lIns="76200" rIns="76200" tIns="38100" bIns="38100"/>
                    <a:lstStyle/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Гибридный</a:t>
                      </a:r>
                    </a:p>
                    <a:p>
                      <a:r>
                        <a:rPr sz="1150" b="1">
                          <a:solidFill>
                            <a:srgbClr val="0F2C68"/>
                          </a:solidFill>
                          <a:latin typeface="HSE Sans"/>
                        </a:rPr>
                        <a:t>подход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Точность, устойчивость к холодному старту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Сложность настройки весов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HSE Sans"/>
                        </a:rPr>
                        <a:t>Основной алгоритм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Гибрид объединяет сильные стороны подходов и снимает холодный старт — выбран основным алгоритмом.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Диаграмма вариантов использования</a:t>
            </a:r>
          </a:p>
        </p:txBody>
      </p:sp>
      <p:pic>
        <p:nvPicPr>
          <p:cNvPr id="6" name="Picture 5" descr="01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003" y="1691640"/>
            <a:ext cx="2045912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920240"/>
            <a:ext cx="5669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500" b="0">
                <a:solidFill>
                  <a:srgbClr val="0F2C68"/>
                </a:solidFill>
                <a:latin typeface="HSE Sans"/>
              </a:rPr>
              <a:t>•  Настройка профиля: интересы, уровень, формат, город, цель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0F2C68"/>
                </a:solidFill>
                <a:latin typeface="HSE Sans"/>
              </a:rPr>
              <a:t>•  Просмотр персональной ленты рекомендаций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0F2C68"/>
                </a:solidFill>
                <a:latin typeface="HSE Sans"/>
              </a:rPr>
              <a:t>•  Обратная связь: 👍 / 👎 / ⭐ — лента адаптируется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0F2C68"/>
                </a:solidFill>
                <a:latin typeface="HSE Sans"/>
              </a:rPr>
              <a:t>•  Объяснение «❓ Почему» и «📖 Подробнее» по событию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0F2C68"/>
                </a:solidFill>
                <a:latin typeface="HSE Sans"/>
              </a:rPr>
              <a:t>•  Семантический поиск событий обычным языком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0F2C68"/>
                </a:solidFill>
                <a:latin typeface="HSE Sans"/>
              </a:rPr>
              <a:t>•  Подписка на дайджест и уведомления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Бизнес-процесс системы</a:t>
            </a:r>
          </a:p>
        </p:txBody>
      </p:sp>
      <p:pic>
        <p:nvPicPr>
          <p:cNvPr id="6" name="Picture 5" descr="02_business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45" y="1691640"/>
            <a:ext cx="10892428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От сбора и нормализации событий до доставки персональной ленты и обработки обратной связи.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Архитектура системы</a:t>
            </a:r>
          </a:p>
        </p:txBody>
      </p:sp>
      <p:pic>
        <p:nvPicPr>
          <p:cNvPr id="6" name="Picture 5" descr="03_c4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710" y="1691640"/>
            <a:ext cx="4525939" cy="4709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783080"/>
            <a:ext cx="3474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F2C68"/>
                </a:solidFill>
                <a:latin typeface="HSE Sans"/>
              </a:rPr>
              <a:t>•  API — REST на FastAPI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F2C68"/>
                </a:solidFill>
                <a:latin typeface="HSE Sans"/>
              </a:rPr>
              <a:t>•  Bot — Telegram (aiogram 3)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F2C68"/>
                </a:solidFill>
                <a:latin typeface="HSE Sans"/>
              </a:rPr>
              <a:t>•  Scheduler — фоновые джобы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F2C68"/>
                </a:solidFill>
                <a:latin typeface="HSE Sans"/>
              </a:rPr>
              <a:t>•  Общая БД: PostgreSQL + pgvector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F2C68"/>
                </a:solidFill>
                <a:latin typeface="HSE Sans"/>
              </a:rPr>
              <a:t>•  LLM-провайдеры (Gemini, Groq)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F2C68"/>
                </a:solidFill>
                <a:latin typeface="HSE Sans"/>
              </a:rPr>
              <a:t>•  Три независимых процесса вокруг общей базы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Модульная схема на уровне контейнеров (C4).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Модель данных</a:t>
            </a:r>
          </a:p>
        </p:txBody>
      </p:sp>
      <p:pic>
        <p:nvPicPr>
          <p:cNvPr id="6" name="Picture 5" descr="04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9368"/>
            <a:ext cx="11064240" cy="33137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Пользователи, события, взаимодействия, embedding'и, состояние бандита и долговременная память.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Выбор средств реализации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11201400" cy="4663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3931920"/>
                <a:gridCol w="4892040"/>
              </a:tblGrid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Компонент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Технология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Назначение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Язык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Python 3.12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Весь стек: API, бот, 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API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FastAPI + Uvicorn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REST-слой, OpenAPI на /docs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Бот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aiogram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Telegram-интерфейс, FSM, роутеры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БД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PostgreSQL + pgvector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Данные + семантический поиск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ORM / миграции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SQLAlchemy 2.0 + Alembic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Модели и версии схемы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Эмбеддинги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sentence-transformers (MiniLM)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384-мерные векторы, рус.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Gemini → Groq 70b → Groq 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Нормализация и объяснения рекомендаций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Планировщик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APScheduler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Дайджест, ingestion, backfill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Гибридный рекомендатель: 9 компонент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229600" cy="47091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37360"/>
                <a:gridCol w="3200400"/>
                <a:gridCol w="3291840"/>
              </a:tblGrid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Компонент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Парадигма / источник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Назначение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rule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rule-based, профиль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Совпадение явных предпочтений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cosine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content-based, embeddings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Семантическая близость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bayesian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Thompson 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Статистика по темам с затуханием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quality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LLM-оценка 1–10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Качество описания и источника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hype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LLM-оценка 1–10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Актуальность темы сейчас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freshness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exp-decay по дате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Свежесть события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skill_gap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goal-aware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Соответствие карьерной цели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bandit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LinUCB contextual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Баланс exploration/exploitation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470916">
                <a:tc>
                  <a:txBody>
                    <a:bodyPr lIns="76200" rIns="76200" tIns="38100" bIns="38100"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gnn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LightGCN collaborative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Коллаборативный сигнал (эксперим.)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0" y="1828800"/>
            <a:ext cx="2926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Веса задаются конфигом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MMR-rerank (λ=0.7) для разнообразия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Series anti-flood: один выпуск серии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Каждая компонента в try/except — сбой не ломает выдачу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TTL-кэш выдачи 15 мин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Как строится рекомендация</a:t>
            </a:r>
          </a:p>
        </p:txBody>
      </p:sp>
      <p:pic>
        <p:nvPicPr>
          <p:cNvPr id="6" name="Picture 5" descr="05_sequence_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940" y="1691640"/>
            <a:ext cx="695563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GET /recommendations → hybrid отбирает top-N → один LLM-вызов пишет объяснения батчем (RAG, без галлюцинаций).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Сбор и нормализация событий</a:t>
            </a:r>
          </a:p>
        </p:txBody>
      </p:sp>
      <p:pic>
        <p:nvPicPr>
          <p:cNvPr id="6" name="Picture 5" descr="06_activity_norm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167" y="1691640"/>
            <a:ext cx="2337904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783080"/>
            <a:ext cx="3291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6 источников: habr, rss, kudago, luma, meetup, telegram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source → raw_events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AI-нормализация + Pydantic-валидация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Строгая enum- и ISO-date валидация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pgvector-дедуп (cosine ≥ 0.92)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Идемпотентный повторный сбор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Батчевая нормализация с адаптивным размером чанка.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LLM-цепочка и надёжность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310896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Цепочка провайдеров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1.  Gemini — primary (REST-транспорт, автопроба модели)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2.  Groq llama-3.3-70b — fallback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3.  Groq llama-3.1-8b — last-resort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/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Circuit-breaker: 5 фейлов подряд → cooldown 120 с.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Per-provider cooldown: 2 фейла → skip на 10 мин.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Graceful-degradation на двух уровнях: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–  LLM → следующий провайдер цепочки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–  hybrid → rule-only выдача при сбое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X-API-Key shared-secret + request-логирование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Prompt-injection sanitize пользовательского ввода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Read-only hot-path + TTL-кэш рекомендаций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Оценка качества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486400" cy="24688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54480"/>
                <a:gridCol w="731520"/>
                <a:gridCol w="1005840"/>
                <a:gridCol w="1188720"/>
                <a:gridCol w="1005840"/>
              </a:tblGrid>
              <a:tr h="493776"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Метрика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k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rule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hybrid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bayes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</a:tr>
              <a:tr h="493776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Recall@k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Recall@k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0,80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0,85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0,85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493776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nDCG@k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nDCG@k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0,36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0,44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0,45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D7D31"/>
                </a:solidFill>
                <a:latin typeface="HSE Sans"/>
              </a:rPr>
              <a:t>Leave-one-out (Recall@k / nDCG@k)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120640" cy="21945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4560"/>
                <a:gridCol w="1463040"/>
                <a:gridCol w="1463040"/>
              </a:tblGrid>
              <a:tr h="548640"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Алгоритм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relevance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diversity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</a:tr>
              <a:tr h="54864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rule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4,33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2,53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hybrid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4,40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2,10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</a:tr>
              <a:tr h="548640">
                <a:tc>
                  <a:txBody>
                    <a:bodyPr lIns="76200" rIns="76200" tIns="38100" bIns="38100"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bayesian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4,40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6200" rIns="76200" tIns="38100" bIns="38100"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2,03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D7D31"/>
                </a:solidFill>
                <a:latin typeface="HSE Sans"/>
              </a:rPr>
              <a:t>LLM-судья (оценка 1–5)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Гибрид превосходит rule-only по Recall@5 (0,65 против 0,50) и nDCG@5 (0,38 против 0,26).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369 автотестов в tests/ (scoring, bayesian, bandit, gnn, memory, ingestion, security).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Воспроизводимые скрипты оценки с фиксированным seed=42.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Все поставленные задачи выполнены.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Собрана рабочая система: API + бот + планировщик вокруг общей БД (PostgreSQL + pgvector).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Реализован гибридный рекомендатель из 9 компонент с объяснением выбора.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Сбор из 6 источников с AI-нормализацией и дедупом.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Качество подтверждено метриками и 369 тестами.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solidFill>
            <a:srgbClr val="FDEFE3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01600" bIns="101600"/>
          <a:lstStyle/>
          <a:p>
            <a:pPr algn="ctr"/>
            <a:r>
              <a:rPr sz="1500" b="1">
                <a:solidFill>
                  <a:srgbClr val="ED7D31"/>
                </a:solidFill>
                <a:latin typeface="HSE Sans"/>
              </a:rPr>
              <a:t>Направления развития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• Расширение списка источников событий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• Включение GNN-сигнала на большем датасете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• Расширение пользовательских сценариев бота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• A/B-тестирование весов рекомендатора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• Развитие в магистерскую работу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EventMind — IT-события и AI-рекомендации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Егор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курсовой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2103120"/>
            <a:ext cx="9235440" cy="2011680"/>
          </a:xfrm>
          <a:prstGeom prst="rect">
            <a:avLst/>
          </a:prstGeom>
          <a:solidFill>
            <a:srgbClr val="0F2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HSE Sans"/>
              </a:rPr>
              <a:t>Благодарю за внимание!</a:t>
            </a:r>
          </a:p>
          <a:p>
            <a:pPr algn="ctr"/>
            <a:r>
              <a:rPr sz="2000">
                <a:solidFill>
                  <a:srgbClr val="CFDAEE"/>
                </a:solidFill>
                <a:latin typeface="HSE Sans"/>
              </a:rPr>
              <a:t>Готов ответить на ваши вопросы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68"/>
                </a:solidFill>
                <a:latin typeface="HSE Sans"/>
              </a:rPr>
              <a:t>Белов Егор Александрович</a:t>
            </a:r>
          </a:p>
          <a:p>
            <a:pPr algn="ctr"/>
            <a:r>
              <a:rPr sz="1400">
                <a:solidFill>
                  <a:srgbClr val="595959"/>
                </a:solidFill>
                <a:latin typeface="HSE Sans"/>
              </a:rPr>
              <a:t>НИУ ВШЭ — Пермь · Бизнес-аналитика</a:t>
            </a:r>
          </a:p>
          <a:p>
            <a:pPr algn="ctr"/>
            <a:r>
              <a:rPr sz="1400">
                <a:solidFill>
                  <a:srgbClr val="595959"/>
                </a:solidFill>
                <a:latin typeface="HSE Sans"/>
              </a:rPr>
              <a:t>Проект: EventMind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2773</Words>
  <Application>Microsoft Office PowerPoint</Application>
  <PresentationFormat>Широкоэкранный</PresentationFormat>
  <Paragraphs>374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Apple Color Emoji</vt:lpstr>
      <vt:lpstr>Arial</vt:lpstr>
      <vt:lpstr>Calibri</vt:lpstr>
      <vt:lpstr>Calibri Light</vt:lpstr>
      <vt:lpstr>HSE Sans</vt:lpstr>
      <vt:lpstr>Times New Roman</vt:lpstr>
      <vt:lpstr>Office Theme</vt:lpstr>
      <vt:lpstr>Разработка приложения для распознавания и поиска объектов на видеоизображении в социальных сетях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вариантов использования системы</vt:lpstr>
      <vt:lpstr>Схема взаимодействия пользователя и системы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Веб интерфейс</vt:lpstr>
      <vt:lpstr>Телеграмм-бот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Белов Егор Александрович</cp:lastModifiedBy>
  <cp:revision>98</cp:revision>
  <cp:lastPrinted>2021-11-11T13:08:42Z</cp:lastPrinted>
  <dcterms:created xsi:type="dcterms:W3CDTF">2021-11-11T08:52:47Z</dcterms:created>
  <dcterms:modified xsi:type="dcterms:W3CDTF">2025-06-05T17:30:29Z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