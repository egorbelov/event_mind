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715"/>
  </p:normalViewPr>
  <p:slideViewPr>
    <p:cSldViewPr snapToGrid="0" snapToObjects="1">
      <p:cViewPr varScale="1">
        <p:scale>
          <a:sx n="121" d="100"/>
          <a:sy n="121" d="100"/>
        </p:scale>
        <p:origin x="2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over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960120"/>
            <a:ext cx="914400" cy="914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057400" y="960120"/>
            <a:ext cx="42062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595959"/>
                </a:solidFill>
                <a:latin typeface="HSE Sans"/>
              </a:rPr>
              <a:t>Национальный исследовательский университет</a:t>
            </a:r>
          </a:p>
          <a:p>
            <a:r>
              <a:rPr sz="1200" b="1">
                <a:solidFill>
                  <a:srgbClr val="0F2C68"/>
                </a:solidFill>
                <a:latin typeface="HSE Sans"/>
              </a:rPr>
              <a:t>«Высшая школа экономики» — Пермь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0" y="960120"/>
            <a:ext cx="27432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595959"/>
                </a:solidFill>
                <a:latin typeface="HSE Sans"/>
              </a:rPr>
              <a:t>Магистерская программа</a:t>
            </a:r>
          </a:p>
          <a:p>
            <a:r>
              <a:rPr sz="1200" b="1">
                <a:solidFill>
                  <a:srgbClr val="0F2C68"/>
                </a:solidFill>
                <a:latin typeface="HSE Sans"/>
              </a:rPr>
              <a:t>«Бизнес-аналитика»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960120"/>
            <a:ext cx="15544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31720"/>
            <a:ext cx="1033272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>
                <a:solidFill>
                  <a:srgbClr val="0F2C68"/>
                </a:solidFill>
                <a:latin typeface="HSE Sans"/>
              </a:rPr>
              <a:t>Разработка приложения для агрегации информации об IT-событиях и выдачи персональных рекомендаций на основе модели пользователя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572000"/>
            <a:ext cx="5120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>
                <a:solidFill>
                  <a:srgbClr val="595959"/>
                </a:solidFill>
                <a:latin typeface="HSE Sans"/>
              </a:rPr>
              <a:t>Работу выполнил студент:</a:t>
            </a:r>
          </a:p>
          <a:p>
            <a:r>
              <a:rPr sz="1600" b="1">
                <a:solidFill>
                  <a:srgbClr val="0F2C68"/>
                </a:solidFill>
                <a:latin typeface="HSE Sans"/>
              </a:rPr>
              <a:t>Белов Егор Александрович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572000"/>
            <a:ext cx="48463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>
                <a:solidFill>
                  <a:srgbClr val="595959"/>
                </a:solidFill>
                <a:latin typeface="HSE Sans"/>
              </a:rPr>
              <a:t>Научный руководитель:</a:t>
            </a:r>
          </a:p>
          <a:p>
            <a:r>
              <a:rPr sz="1200">
                <a:solidFill>
                  <a:srgbClr val="595959"/>
                </a:solidFill>
                <a:latin typeface="HSE Sans"/>
              </a:rPr>
              <a:t>Доцент кафедры информационных технологий в бизнесе</a:t>
            </a:r>
          </a:p>
          <a:p>
            <a:r>
              <a:rPr sz="1600" b="1">
                <a:solidFill>
                  <a:srgbClr val="0F2C68"/>
                </a:solidFill>
                <a:latin typeface="HSE Sans"/>
              </a:rPr>
              <a:t>Городилов А. Ю.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ontent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_mon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182880"/>
            <a:ext cx="475488" cy="4754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46304"/>
            <a:ext cx="768096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800" b="1">
                <a:solidFill>
                  <a:srgbClr val="0F2C68"/>
                </a:solidFill>
                <a:latin typeface="HSE Sans"/>
              </a:rPr>
              <a:t>Разработка приложения для агрегации информации об IT-событиях и выдачи персональных рекомендаций на основе модели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146304"/>
            <a:ext cx="205740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>
                <a:solidFill>
                  <a:srgbClr val="595959"/>
                </a:solidFill>
                <a:latin typeface="HSE Sans"/>
              </a:rPr>
              <a:t>Защита курсовой,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146304"/>
            <a:ext cx="77724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50" b="1">
                <a:solidFill>
                  <a:srgbClr val="0F2C68"/>
                </a:solidFill>
                <a:latin typeface="HSE Sans"/>
              </a:rPr>
              <a:t>2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14400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0F2C68"/>
                </a:solidFill>
                <a:latin typeface="HSE Sans"/>
              </a:rPr>
              <a:t>Актуальность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65836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600" b="0">
                <a:solidFill>
                  <a:srgbClr val="0F2C68"/>
                </a:solidFill>
                <a:latin typeface="HSE Sans"/>
              </a:rPr>
              <a:t>•  IT-мероприятий очень много: конференции, митапы, вебинары и хакатоны идут десятками в неделю.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0F2C68"/>
                </a:solidFill>
                <a:latin typeface="HSE Sans"/>
              </a:rPr>
              <a:t>•  Анонсы разбросаны по множеству сайтов, агрегаторов и каналов — единой точки входа нет.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0F2C68"/>
                </a:solidFill>
                <a:latin typeface="HSE Sans"/>
              </a:rPr>
              <a:t>•  Отобрать подходящее по теме, уровню, формату и городу — ручная рутина, отнимающая время.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0F2C68"/>
                </a:solidFill>
                <a:latin typeface="HSE Sans"/>
              </a:rPr>
              <a:t>•  Обычные афиши не знают карьерной цели пользователя и его истории интересов.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0F2C68"/>
                </a:solidFill>
                <a:latin typeface="HSE Sans"/>
              </a:rPr>
              <a:t>•  Растёт запрос на персонализацию: лента «под меня», а не общий список.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1920240"/>
            <a:ext cx="4206240" cy="1828800"/>
          </a:xfrm>
          <a:prstGeom prst="rect">
            <a:avLst/>
          </a:prstGeom>
          <a:solidFill>
            <a:srgbClr val="EAEFF7"/>
          </a:solidFill>
          <a:ln w="9525">
            <a:solidFill>
              <a:srgbClr val="0F2C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101600" rIns="101600" bIns="101600" rtlCol="0" anchor="t"/>
          <a:lstStyle/>
          <a:p>
            <a:pPr algn="ctr"/>
            <a:r>
              <a:rPr sz="1500" b="1">
                <a:solidFill>
                  <a:srgbClr val="0F2C68"/>
                </a:solidFill>
                <a:latin typeface="HSE Sans"/>
              </a:rPr>
              <a:t>Проблема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595959"/>
                </a:solidFill>
                <a:latin typeface="HSE Sans"/>
              </a:rPr>
              <a:t>Подходящие IT-события теряются в потоке анонсов из множества источников, а их отбор остаётся ручным.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79" y="4069080"/>
            <a:ext cx="4206240" cy="2103120"/>
          </a:xfrm>
          <a:prstGeom prst="rect">
            <a:avLst/>
          </a:prstGeom>
          <a:solidFill>
            <a:srgbClr val="E3F0E6"/>
          </a:solidFill>
          <a:ln w="9525">
            <a:solidFill>
              <a:srgbClr val="0F2C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101600" rIns="101600" bIns="101600" rtlCol="0" anchor="t"/>
          <a:lstStyle/>
          <a:p>
            <a:pPr algn="ctr"/>
            <a:r>
              <a:rPr sz="1500" b="1">
                <a:solidFill>
                  <a:srgbClr val="0F2C68"/>
                </a:solidFill>
                <a:latin typeface="HSE Sans"/>
              </a:rPr>
              <a:t>Решение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595959"/>
                </a:solidFill>
                <a:latin typeface="HSE Sans"/>
              </a:rPr>
              <a:t>Автоматический сбор событий и персональная лента с понятным объяснением выбора, учитывающая интересы и цель пользователя.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ontent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_mon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182880"/>
            <a:ext cx="475488" cy="4754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46304"/>
            <a:ext cx="768096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800" b="1">
                <a:solidFill>
                  <a:srgbClr val="0F2C68"/>
                </a:solidFill>
                <a:latin typeface="HSE Sans"/>
              </a:rPr>
              <a:t>Разработка приложения для агрегации информации об IT-событиях и выдачи персональных рекомендаций на основе модели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146304"/>
            <a:ext cx="205740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>
                <a:solidFill>
                  <a:srgbClr val="595959"/>
                </a:solidFill>
                <a:latin typeface="HSE Sans"/>
              </a:rPr>
              <a:t>Защита курсовой,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146304"/>
            <a:ext cx="77724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50" b="1">
                <a:solidFill>
                  <a:srgbClr val="0F2C68"/>
                </a:solidFill>
                <a:latin typeface="HSE Sans"/>
              </a:rPr>
              <a:t>3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14400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0F2C68"/>
                </a:solidFill>
                <a:latin typeface="HSE Sans"/>
              </a:rPr>
              <a:t>Объект и предмет исследования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011680"/>
            <a:ext cx="5303520" cy="2743200"/>
          </a:xfrm>
          <a:prstGeom prst="rect">
            <a:avLst/>
          </a:prstGeom>
          <a:solidFill>
            <a:srgbClr val="EAEFF7"/>
          </a:solidFill>
          <a:ln w="9525">
            <a:solidFill>
              <a:srgbClr val="0F2C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101600" rIns="101600" bIns="101600" rtlCol="0" anchor="t"/>
          <a:lstStyle/>
          <a:p>
            <a:pPr algn="ctr"/>
            <a:r>
              <a:rPr sz="2000" b="1" dirty="0" err="1">
                <a:solidFill>
                  <a:srgbClr val="0F2C68"/>
                </a:solidFill>
                <a:latin typeface="HSE Sans"/>
              </a:rPr>
              <a:t>Объект</a:t>
            </a:r>
            <a:r>
              <a:rPr sz="2000" b="1" dirty="0">
                <a:solidFill>
                  <a:srgbClr val="0F2C68"/>
                </a:solidFill>
                <a:latin typeface="HSE Sans"/>
              </a:rPr>
              <a:t> </a:t>
            </a:r>
            <a:r>
              <a:rPr sz="2000" b="1" dirty="0" err="1">
                <a:solidFill>
                  <a:srgbClr val="0F2C68"/>
                </a:solidFill>
                <a:latin typeface="HSE Sans"/>
              </a:rPr>
              <a:t>исследования</a:t>
            </a:r>
            <a:endParaRPr sz="2000" b="1" dirty="0">
              <a:solidFill>
                <a:srgbClr val="0F2C68"/>
              </a:solidFill>
              <a:latin typeface="HSE Sans"/>
            </a:endParaRPr>
          </a:p>
          <a:p>
            <a:pPr>
              <a:spcBef>
                <a:spcPts val="300"/>
              </a:spcBef>
            </a:pPr>
            <a:r>
              <a:rPr sz="1600" dirty="0" err="1">
                <a:solidFill>
                  <a:srgbClr val="595959"/>
                </a:solidFill>
                <a:latin typeface="HSE Sans"/>
              </a:rPr>
              <a:t>Процессы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агрегации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информации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об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IT-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мероприятиях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и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построения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персонализированных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рекомендаций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для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пользователей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2011680"/>
            <a:ext cx="5303520" cy="2743200"/>
          </a:xfrm>
          <a:prstGeom prst="rect">
            <a:avLst/>
          </a:prstGeom>
          <a:solidFill>
            <a:srgbClr val="E3F0E6"/>
          </a:solidFill>
          <a:ln w="9525">
            <a:solidFill>
              <a:srgbClr val="0F2C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101600" rIns="101600" bIns="101600" rtlCol="0" anchor="t"/>
          <a:lstStyle/>
          <a:p>
            <a:pPr algn="ctr"/>
            <a:r>
              <a:rPr sz="2000" b="1" dirty="0" err="1">
                <a:solidFill>
                  <a:srgbClr val="0F2C68"/>
                </a:solidFill>
                <a:latin typeface="HSE Sans"/>
              </a:rPr>
              <a:t>Предмет</a:t>
            </a:r>
            <a:r>
              <a:rPr sz="2000" b="1" dirty="0">
                <a:solidFill>
                  <a:srgbClr val="0F2C68"/>
                </a:solidFill>
                <a:latin typeface="HSE Sans"/>
              </a:rPr>
              <a:t> </a:t>
            </a:r>
            <a:r>
              <a:rPr sz="2000" b="1" dirty="0" err="1">
                <a:solidFill>
                  <a:srgbClr val="0F2C68"/>
                </a:solidFill>
                <a:latin typeface="HSE Sans"/>
              </a:rPr>
              <a:t>исследования</a:t>
            </a:r>
            <a:endParaRPr sz="2000" b="1" dirty="0">
              <a:solidFill>
                <a:srgbClr val="0F2C68"/>
              </a:solidFill>
              <a:latin typeface="HSE Sans"/>
            </a:endParaRPr>
          </a:p>
          <a:p>
            <a:pPr>
              <a:spcBef>
                <a:spcPts val="300"/>
              </a:spcBef>
            </a:pPr>
            <a:r>
              <a:rPr sz="1600" dirty="0" err="1">
                <a:solidFill>
                  <a:srgbClr val="595959"/>
                </a:solidFill>
                <a:latin typeface="HSE Sans"/>
              </a:rPr>
              <a:t>Программная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система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,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объединяющая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сбор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и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нормализацию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событий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,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гибридный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рекомендатель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и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пользовательский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интерфейс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вокруг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общей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базы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данных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ontent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_mon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182880"/>
            <a:ext cx="475488" cy="4754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46304"/>
            <a:ext cx="768096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800" b="1">
                <a:solidFill>
                  <a:srgbClr val="0F2C68"/>
                </a:solidFill>
                <a:latin typeface="HSE Sans"/>
              </a:rPr>
              <a:t>Разработка приложения для агрегации информации об IT-событиях и выдачи персональных рекомендаций на основе модели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146304"/>
            <a:ext cx="205740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>
                <a:solidFill>
                  <a:srgbClr val="595959"/>
                </a:solidFill>
                <a:latin typeface="HSE Sans"/>
              </a:rPr>
              <a:t>Защита курсовой,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146304"/>
            <a:ext cx="77724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50" b="1">
                <a:solidFill>
                  <a:srgbClr val="0F2C68"/>
                </a:solidFill>
                <a:latin typeface="HSE Sans"/>
              </a:rPr>
              <a:t>4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14400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0F2C68"/>
                </a:solidFill>
                <a:latin typeface="HSE Sans"/>
              </a:rPr>
              <a:t>Цель и задачи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783080"/>
            <a:ext cx="5029200" cy="3108960"/>
          </a:xfrm>
          <a:prstGeom prst="rect">
            <a:avLst/>
          </a:prstGeom>
          <a:solidFill>
            <a:srgbClr val="EAEFF7"/>
          </a:solidFill>
          <a:ln w="9525">
            <a:solidFill>
              <a:srgbClr val="0F2C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101600" rIns="101600" bIns="101600" rtlCol="0" anchor="t"/>
          <a:lstStyle/>
          <a:p>
            <a:pPr algn="ctr"/>
            <a:r>
              <a:rPr sz="2000" b="1" dirty="0" err="1">
                <a:solidFill>
                  <a:srgbClr val="0F2C68"/>
                </a:solidFill>
                <a:latin typeface="HSE Sans"/>
              </a:rPr>
              <a:t>Цель</a:t>
            </a:r>
            <a:endParaRPr sz="2000" b="1" dirty="0">
              <a:solidFill>
                <a:srgbClr val="0F2C68"/>
              </a:solidFill>
              <a:latin typeface="HSE Sans"/>
            </a:endParaRPr>
          </a:p>
          <a:p>
            <a:pPr>
              <a:spcBef>
                <a:spcPts val="300"/>
              </a:spcBef>
            </a:pPr>
            <a:r>
              <a:rPr sz="1600" dirty="0" err="1">
                <a:solidFill>
                  <a:srgbClr val="595959"/>
                </a:solidFill>
                <a:latin typeface="HSE Sans"/>
              </a:rPr>
              <a:t>Разработать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систему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,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которая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автоматически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собирает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анонсы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IT-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мероприятий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из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множества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источников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,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нормализует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их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и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строит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для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каждого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пользователя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персональную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ленту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рекомендаций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с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понятным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объяснением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выбора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1753362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dirty="0" err="1">
                <a:solidFill>
                  <a:srgbClr val="0F2C68"/>
                </a:solidFill>
                <a:latin typeface="HSE Sans"/>
              </a:rPr>
              <a:t>Задачи</a:t>
            </a:r>
            <a:endParaRPr sz="2000" b="1" dirty="0">
              <a:solidFill>
                <a:srgbClr val="0F2C68"/>
              </a:solidFill>
              <a:latin typeface="HSE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852160" y="2302002"/>
            <a:ext cx="585216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100"/>
              </a:spcAft>
            </a:pPr>
            <a:r>
              <a:rPr sz="1550" b="0" dirty="0">
                <a:solidFill>
                  <a:srgbClr val="0F2C68"/>
                </a:solidFill>
                <a:latin typeface="HSE Sans"/>
              </a:rPr>
              <a:t>•  </a:t>
            </a:r>
            <a:r>
              <a:rPr sz="1550" b="0" dirty="0" err="1">
                <a:solidFill>
                  <a:srgbClr val="0F2C68"/>
                </a:solidFill>
                <a:latin typeface="HSE Sans"/>
              </a:rPr>
              <a:t>Анализ</a:t>
            </a:r>
            <a:r>
              <a:rPr sz="1550" b="0" dirty="0">
                <a:solidFill>
                  <a:srgbClr val="0F2C68"/>
                </a:solidFill>
                <a:latin typeface="HSE Sans"/>
              </a:rPr>
              <a:t> </a:t>
            </a:r>
            <a:r>
              <a:rPr sz="1550" b="0" dirty="0" err="1">
                <a:solidFill>
                  <a:srgbClr val="0F2C68"/>
                </a:solidFill>
                <a:latin typeface="HSE Sans"/>
              </a:rPr>
              <a:t>предметной</a:t>
            </a:r>
            <a:r>
              <a:rPr sz="1550" b="0" dirty="0">
                <a:solidFill>
                  <a:srgbClr val="0F2C68"/>
                </a:solidFill>
                <a:latin typeface="HSE Sans"/>
              </a:rPr>
              <a:t> </a:t>
            </a:r>
            <a:r>
              <a:rPr sz="1550" b="0" dirty="0" err="1">
                <a:solidFill>
                  <a:srgbClr val="0F2C68"/>
                </a:solidFill>
                <a:latin typeface="HSE Sans"/>
              </a:rPr>
              <a:t>области</a:t>
            </a:r>
            <a:r>
              <a:rPr sz="1550" b="0" dirty="0">
                <a:solidFill>
                  <a:srgbClr val="0F2C68"/>
                </a:solidFill>
                <a:latin typeface="HSE Sans"/>
              </a:rPr>
              <a:t> </a:t>
            </a:r>
            <a:r>
              <a:rPr sz="1550" b="0" dirty="0" err="1">
                <a:solidFill>
                  <a:srgbClr val="0F2C68"/>
                </a:solidFill>
                <a:latin typeface="HSE Sans"/>
              </a:rPr>
              <a:t>и</a:t>
            </a:r>
            <a:r>
              <a:rPr sz="1550" b="0" dirty="0">
                <a:solidFill>
                  <a:srgbClr val="0F2C68"/>
                </a:solidFill>
                <a:latin typeface="HSE Sans"/>
              </a:rPr>
              <a:t> </a:t>
            </a:r>
            <a:r>
              <a:rPr sz="1550" b="0" dirty="0" err="1">
                <a:solidFill>
                  <a:srgbClr val="0F2C68"/>
                </a:solidFill>
                <a:latin typeface="HSE Sans"/>
              </a:rPr>
              <a:t>существующих</a:t>
            </a:r>
            <a:r>
              <a:rPr sz="1550" b="0" dirty="0">
                <a:solidFill>
                  <a:srgbClr val="0F2C68"/>
                </a:solidFill>
                <a:latin typeface="HSE Sans"/>
              </a:rPr>
              <a:t> </a:t>
            </a:r>
            <a:r>
              <a:rPr sz="1550" b="0" dirty="0" err="1">
                <a:solidFill>
                  <a:srgbClr val="0F2C68"/>
                </a:solidFill>
                <a:latin typeface="HSE Sans"/>
              </a:rPr>
              <a:t>решений</a:t>
            </a:r>
            <a:endParaRPr sz="1550" b="0" dirty="0">
              <a:solidFill>
                <a:srgbClr val="0F2C68"/>
              </a:solidFill>
              <a:latin typeface="HSE Sans"/>
            </a:endParaRPr>
          </a:p>
          <a:p>
            <a:pPr>
              <a:spcAft>
                <a:spcPts val="1100"/>
              </a:spcAft>
            </a:pPr>
            <a:r>
              <a:rPr sz="1550" b="0" dirty="0">
                <a:solidFill>
                  <a:srgbClr val="0F2C68"/>
                </a:solidFill>
                <a:latin typeface="HSE Sans"/>
              </a:rPr>
              <a:t>•  </a:t>
            </a:r>
            <a:r>
              <a:rPr sz="1550" b="0" dirty="0" err="1">
                <a:solidFill>
                  <a:srgbClr val="0F2C68"/>
                </a:solidFill>
                <a:latin typeface="HSE Sans"/>
              </a:rPr>
              <a:t>Анализ</a:t>
            </a:r>
            <a:r>
              <a:rPr sz="1550" b="0" dirty="0">
                <a:solidFill>
                  <a:srgbClr val="0F2C68"/>
                </a:solidFill>
                <a:latin typeface="HSE Sans"/>
              </a:rPr>
              <a:t> </a:t>
            </a:r>
            <a:r>
              <a:rPr sz="1550" b="0" dirty="0" err="1">
                <a:solidFill>
                  <a:srgbClr val="0F2C68"/>
                </a:solidFill>
                <a:latin typeface="HSE Sans"/>
              </a:rPr>
              <a:t>подходов</a:t>
            </a:r>
            <a:r>
              <a:rPr sz="1550" b="0" dirty="0">
                <a:solidFill>
                  <a:srgbClr val="0F2C68"/>
                </a:solidFill>
                <a:latin typeface="HSE Sans"/>
              </a:rPr>
              <a:t> </a:t>
            </a:r>
            <a:r>
              <a:rPr sz="1550" b="0" dirty="0" err="1">
                <a:solidFill>
                  <a:srgbClr val="0F2C68"/>
                </a:solidFill>
                <a:latin typeface="HSE Sans"/>
              </a:rPr>
              <a:t>к</a:t>
            </a:r>
            <a:r>
              <a:rPr sz="1550" b="0" dirty="0">
                <a:solidFill>
                  <a:srgbClr val="0F2C68"/>
                </a:solidFill>
                <a:latin typeface="HSE Sans"/>
              </a:rPr>
              <a:t> </a:t>
            </a:r>
            <a:r>
              <a:rPr sz="1550" b="0" dirty="0" err="1">
                <a:solidFill>
                  <a:srgbClr val="0F2C68"/>
                </a:solidFill>
                <a:latin typeface="HSE Sans"/>
              </a:rPr>
              <a:t>построению</a:t>
            </a:r>
            <a:r>
              <a:rPr sz="1550" b="0" dirty="0">
                <a:solidFill>
                  <a:srgbClr val="0F2C68"/>
                </a:solidFill>
                <a:latin typeface="HSE Sans"/>
              </a:rPr>
              <a:t> </a:t>
            </a:r>
            <a:r>
              <a:rPr sz="1550" b="0" dirty="0" err="1">
                <a:solidFill>
                  <a:srgbClr val="0F2C68"/>
                </a:solidFill>
                <a:latin typeface="HSE Sans"/>
              </a:rPr>
              <a:t>рекомендаций</a:t>
            </a:r>
            <a:endParaRPr sz="1550" b="0" dirty="0">
              <a:solidFill>
                <a:srgbClr val="0F2C68"/>
              </a:solidFill>
              <a:latin typeface="HSE Sans"/>
            </a:endParaRPr>
          </a:p>
          <a:p>
            <a:pPr>
              <a:spcAft>
                <a:spcPts val="1100"/>
              </a:spcAft>
            </a:pPr>
            <a:r>
              <a:rPr sz="1550" b="0" dirty="0">
                <a:solidFill>
                  <a:srgbClr val="0F2C68"/>
                </a:solidFill>
                <a:latin typeface="HSE Sans"/>
              </a:rPr>
              <a:t>•  </a:t>
            </a:r>
            <a:r>
              <a:rPr sz="1550" b="0" dirty="0" err="1">
                <a:solidFill>
                  <a:srgbClr val="0F2C68"/>
                </a:solidFill>
                <a:latin typeface="HSE Sans"/>
              </a:rPr>
              <a:t>Проектирование</a:t>
            </a:r>
            <a:r>
              <a:rPr sz="1550" b="0" dirty="0">
                <a:solidFill>
                  <a:srgbClr val="0F2C68"/>
                </a:solidFill>
                <a:latin typeface="HSE Sans"/>
              </a:rPr>
              <a:t> </a:t>
            </a:r>
            <a:r>
              <a:rPr sz="1550" b="0" dirty="0" err="1">
                <a:solidFill>
                  <a:srgbClr val="0F2C68"/>
                </a:solidFill>
                <a:latin typeface="HSE Sans"/>
              </a:rPr>
              <a:t>архитектуры</a:t>
            </a:r>
            <a:r>
              <a:rPr sz="1550" b="0" dirty="0">
                <a:solidFill>
                  <a:srgbClr val="0F2C68"/>
                </a:solidFill>
                <a:latin typeface="HSE Sans"/>
              </a:rPr>
              <a:t> </a:t>
            </a:r>
            <a:r>
              <a:rPr sz="1550" b="0" dirty="0" err="1">
                <a:solidFill>
                  <a:srgbClr val="0F2C68"/>
                </a:solidFill>
                <a:latin typeface="HSE Sans"/>
              </a:rPr>
              <a:t>системы</a:t>
            </a:r>
            <a:endParaRPr sz="1550" b="0" dirty="0">
              <a:solidFill>
                <a:srgbClr val="0F2C68"/>
              </a:solidFill>
              <a:latin typeface="HSE Sans"/>
            </a:endParaRPr>
          </a:p>
          <a:p>
            <a:pPr>
              <a:spcAft>
                <a:spcPts val="1100"/>
              </a:spcAft>
            </a:pPr>
            <a:r>
              <a:rPr sz="1550" b="0" dirty="0">
                <a:solidFill>
                  <a:srgbClr val="0F2C68"/>
                </a:solidFill>
                <a:latin typeface="HSE Sans"/>
              </a:rPr>
              <a:t>•  </a:t>
            </a:r>
            <a:r>
              <a:rPr sz="1550" b="0" dirty="0" err="1">
                <a:solidFill>
                  <a:srgbClr val="0F2C68"/>
                </a:solidFill>
                <a:latin typeface="HSE Sans"/>
              </a:rPr>
              <a:t>Сбор</a:t>
            </a:r>
            <a:r>
              <a:rPr sz="1550" b="0" dirty="0">
                <a:solidFill>
                  <a:srgbClr val="0F2C68"/>
                </a:solidFill>
                <a:latin typeface="HSE Sans"/>
              </a:rPr>
              <a:t> </a:t>
            </a:r>
            <a:r>
              <a:rPr sz="1550" b="0" dirty="0" err="1">
                <a:solidFill>
                  <a:srgbClr val="0F2C68"/>
                </a:solidFill>
                <a:latin typeface="HSE Sans"/>
              </a:rPr>
              <a:t>и</a:t>
            </a:r>
            <a:r>
              <a:rPr sz="1550" b="0" dirty="0">
                <a:solidFill>
                  <a:srgbClr val="0F2C68"/>
                </a:solidFill>
                <a:latin typeface="HSE Sans"/>
              </a:rPr>
              <a:t> </a:t>
            </a:r>
            <a:r>
              <a:rPr sz="1550" b="0" dirty="0" err="1">
                <a:solidFill>
                  <a:srgbClr val="0F2C68"/>
                </a:solidFill>
                <a:latin typeface="HSE Sans"/>
              </a:rPr>
              <a:t>автоматическая</a:t>
            </a:r>
            <a:r>
              <a:rPr sz="1550" b="0" dirty="0">
                <a:solidFill>
                  <a:srgbClr val="0F2C68"/>
                </a:solidFill>
                <a:latin typeface="HSE Sans"/>
              </a:rPr>
              <a:t> </a:t>
            </a:r>
            <a:r>
              <a:rPr sz="1550" b="0" dirty="0" err="1">
                <a:solidFill>
                  <a:srgbClr val="0F2C68"/>
                </a:solidFill>
                <a:latin typeface="HSE Sans"/>
              </a:rPr>
              <a:t>нормализация</a:t>
            </a:r>
            <a:r>
              <a:rPr sz="1550" b="0" dirty="0">
                <a:solidFill>
                  <a:srgbClr val="0F2C68"/>
                </a:solidFill>
                <a:latin typeface="HSE Sans"/>
              </a:rPr>
              <a:t> </a:t>
            </a:r>
            <a:r>
              <a:rPr sz="1550" b="0" dirty="0" err="1">
                <a:solidFill>
                  <a:srgbClr val="0F2C68"/>
                </a:solidFill>
                <a:latin typeface="HSE Sans"/>
              </a:rPr>
              <a:t>событий</a:t>
            </a:r>
            <a:r>
              <a:rPr sz="1550" b="0" dirty="0">
                <a:solidFill>
                  <a:srgbClr val="0F2C68"/>
                </a:solidFill>
                <a:latin typeface="HSE Sans"/>
              </a:rPr>
              <a:t> </a:t>
            </a:r>
            <a:r>
              <a:rPr sz="1550" b="0" dirty="0" err="1">
                <a:solidFill>
                  <a:srgbClr val="0F2C68"/>
                </a:solidFill>
                <a:latin typeface="HSE Sans"/>
              </a:rPr>
              <a:t>из</a:t>
            </a:r>
            <a:r>
              <a:rPr sz="1550" b="0" dirty="0">
                <a:solidFill>
                  <a:srgbClr val="0F2C68"/>
                </a:solidFill>
                <a:latin typeface="HSE Sans"/>
              </a:rPr>
              <a:t> </a:t>
            </a:r>
            <a:r>
              <a:rPr sz="1550" b="0" dirty="0" err="1">
                <a:solidFill>
                  <a:srgbClr val="0F2C68"/>
                </a:solidFill>
                <a:latin typeface="HSE Sans"/>
              </a:rPr>
              <a:t>разных</a:t>
            </a:r>
            <a:r>
              <a:rPr sz="1550" b="0" dirty="0">
                <a:solidFill>
                  <a:srgbClr val="0F2C68"/>
                </a:solidFill>
                <a:latin typeface="HSE Sans"/>
              </a:rPr>
              <a:t> </a:t>
            </a:r>
            <a:r>
              <a:rPr sz="1550" b="0" dirty="0" err="1">
                <a:solidFill>
                  <a:srgbClr val="0F2C68"/>
                </a:solidFill>
                <a:latin typeface="HSE Sans"/>
              </a:rPr>
              <a:t>источников</a:t>
            </a:r>
            <a:endParaRPr sz="1550" b="0" dirty="0">
              <a:solidFill>
                <a:srgbClr val="0F2C68"/>
              </a:solidFill>
              <a:latin typeface="HSE Sans"/>
            </a:endParaRPr>
          </a:p>
          <a:p>
            <a:pPr>
              <a:spcAft>
                <a:spcPts val="1100"/>
              </a:spcAft>
            </a:pPr>
            <a:r>
              <a:rPr sz="1550" b="0" dirty="0">
                <a:solidFill>
                  <a:srgbClr val="0F2C68"/>
                </a:solidFill>
                <a:latin typeface="HSE Sans"/>
              </a:rPr>
              <a:t>•  </a:t>
            </a:r>
            <a:r>
              <a:rPr sz="1550" b="0" dirty="0" err="1">
                <a:solidFill>
                  <a:srgbClr val="0F2C68"/>
                </a:solidFill>
                <a:latin typeface="HSE Sans"/>
              </a:rPr>
              <a:t>Реализация</a:t>
            </a:r>
            <a:r>
              <a:rPr sz="1550" b="0" dirty="0">
                <a:solidFill>
                  <a:srgbClr val="0F2C68"/>
                </a:solidFill>
                <a:latin typeface="HSE Sans"/>
              </a:rPr>
              <a:t> </a:t>
            </a:r>
            <a:r>
              <a:rPr sz="1550" b="0" dirty="0" err="1">
                <a:solidFill>
                  <a:srgbClr val="0F2C68"/>
                </a:solidFill>
                <a:latin typeface="HSE Sans"/>
              </a:rPr>
              <a:t>гибридного</a:t>
            </a:r>
            <a:r>
              <a:rPr sz="1550" b="0" dirty="0">
                <a:solidFill>
                  <a:srgbClr val="0F2C68"/>
                </a:solidFill>
                <a:latin typeface="HSE Sans"/>
              </a:rPr>
              <a:t> </a:t>
            </a:r>
            <a:r>
              <a:rPr sz="1550" b="0" dirty="0" err="1">
                <a:solidFill>
                  <a:srgbClr val="0F2C68"/>
                </a:solidFill>
                <a:latin typeface="HSE Sans"/>
              </a:rPr>
              <a:t>алгоритма</a:t>
            </a:r>
            <a:r>
              <a:rPr sz="1550" b="0" dirty="0">
                <a:solidFill>
                  <a:srgbClr val="0F2C68"/>
                </a:solidFill>
                <a:latin typeface="HSE Sans"/>
              </a:rPr>
              <a:t> </a:t>
            </a:r>
            <a:r>
              <a:rPr sz="1550" b="0" dirty="0" err="1">
                <a:solidFill>
                  <a:srgbClr val="0F2C68"/>
                </a:solidFill>
                <a:latin typeface="HSE Sans"/>
              </a:rPr>
              <a:t>рекомендаций</a:t>
            </a:r>
            <a:endParaRPr sz="1550" b="0" dirty="0">
              <a:solidFill>
                <a:srgbClr val="0F2C68"/>
              </a:solidFill>
              <a:latin typeface="HSE Sans"/>
            </a:endParaRPr>
          </a:p>
          <a:p>
            <a:pPr>
              <a:spcAft>
                <a:spcPts val="1100"/>
              </a:spcAft>
            </a:pPr>
            <a:r>
              <a:rPr sz="1550" b="0" dirty="0">
                <a:solidFill>
                  <a:srgbClr val="0F2C68"/>
                </a:solidFill>
                <a:latin typeface="HSE Sans"/>
              </a:rPr>
              <a:t>•  </a:t>
            </a:r>
            <a:r>
              <a:rPr sz="1550" b="0" dirty="0" err="1">
                <a:solidFill>
                  <a:srgbClr val="0F2C68"/>
                </a:solidFill>
                <a:latin typeface="HSE Sans"/>
              </a:rPr>
              <a:t>Разработка</a:t>
            </a:r>
            <a:r>
              <a:rPr sz="1550" b="0" dirty="0">
                <a:solidFill>
                  <a:srgbClr val="0F2C68"/>
                </a:solidFill>
                <a:latin typeface="HSE Sans"/>
              </a:rPr>
              <a:t> </a:t>
            </a:r>
            <a:r>
              <a:rPr sz="1550" b="0" dirty="0" err="1">
                <a:solidFill>
                  <a:srgbClr val="0F2C68"/>
                </a:solidFill>
                <a:latin typeface="HSE Sans"/>
              </a:rPr>
              <a:t>пользовательского</a:t>
            </a:r>
            <a:r>
              <a:rPr sz="1550" b="0" dirty="0">
                <a:solidFill>
                  <a:srgbClr val="0F2C68"/>
                </a:solidFill>
                <a:latin typeface="HSE Sans"/>
              </a:rPr>
              <a:t> </a:t>
            </a:r>
            <a:r>
              <a:rPr sz="1550" b="0" dirty="0" err="1">
                <a:solidFill>
                  <a:srgbClr val="0F2C68"/>
                </a:solidFill>
                <a:latin typeface="HSE Sans"/>
              </a:rPr>
              <a:t>интерфейса</a:t>
            </a:r>
            <a:r>
              <a:rPr sz="1550" b="0" dirty="0">
                <a:solidFill>
                  <a:srgbClr val="0F2C68"/>
                </a:solidFill>
                <a:latin typeface="HSE Sans"/>
              </a:rPr>
              <a:t> </a:t>
            </a:r>
            <a:r>
              <a:rPr sz="1550" b="0" dirty="0" err="1">
                <a:solidFill>
                  <a:srgbClr val="0F2C68"/>
                </a:solidFill>
                <a:latin typeface="HSE Sans"/>
              </a:rPr>
              <a:t>и</a:t>
            </a:r>
            <a:r>
              <a:rPr sz="1550" b="0" dirty="0">
                <a:solidFill>
                  <a:srgbClr val="0F2C68"/>
                </a:solidFill>
                <a:latin typeface="HSE Sans"/>
              </a:rPr>
              <a:t> </a:t>
            </a:r>
            <a:r>
              <a:rPr sz="1550" b="0" dirty="0" err="1">
                <a:solidFill>
                  <a:srgbClr val="0F2C68"/>
                </a:solidFill>
                <a:latin typeface="HSE Sans"/>
              </a:rPr>
              <a:t>обратной</a:t>
            </a:r>
            <a:r>
              <a:rPr sz="1550" b="0" dirty="0">
                <a:solidFill>
                  <a:srgbClr val="0F2C68"/>
                </a:solidFill>
                <a:latin typeface="HSE Sans"/>
              </a:rPr>
              <a:t> </a:t>
            </a:r>
            <a:r>
              <a:rPr sz="1550" b="0" dirty="0" err="1">
                <a:solidFill>
                  <a:srgbClr val="0F2C68"/>
                </a:solidFill>
                <a:latin typeface="HSE Sans"/>
              </a:rPr>
              <a:t>связи</a:t>
            </a:r>
            <a:endParaRPr sz="1550" b="0" dirty="0">
              <a:solidFill>
                <a:srgbClr val="0F2C68"/>
              </a:solidFill>
              <a:latin typeface="HSE Sans"/>
            </a:endParaRPr>
          </a:p>
          <a:p>
            <a:pPr>
              <a:spcAft>
                <a:spcPts val="1100"/>
              </a:spcAft>
            </a:pPr>
            <a:r>
              <a:rPr sz="1550" b="0" dirty="0">
                <a:solidFill>
                  <a:srgbClr val="0F2C68"/>
                </a:solidFill>
                <a:latin typeface="HSE Sans"/>
              </a:rPr>
              <a:t>•  </a:t>
            </a:r>
            <a:r>
              <a:rPr sz="1550" b="0" dirty="0" err="1">
                <a:solidFill>
                  <a:srgbClr val="0F2C68"/>
                </a:solidFill>
                <a:latin typeface="HSE Sans"/>
              </a:rPr>
              <a:t>Тестирование</a:t>
            </a:r>
            <a:r>
              <a:rPr sz="1550" b="0" dirty="0">
                <a:solidFill>
                  <a:srgbClr val="0F2C68"/>
                </a:solidFill>
                <a:latin typeface="HSE Sans"/>
              </a:rPr>
              <a:t> </a:t>
            </a:r>
            <a:r>
              <a:rPr sz="1550" b="0" dirty="0" err="1">
                <a:solidFill>
                  <a:srgbClr val="0F2C68"/>
                </a:solidFill>
                <a:latin typeface="HSE Sans"/>
              </a:rPr>
              <a:t>и</a:t>
            </a:r>
            <a:r>
              <a:rPr sz="1550" b="0" dirty="0">
                <a:solidFill>
                  <a:srgbClr val="0F2C68"/>
                </a:solidFill>
                <a:latin typeface="HSE Sans"/>
              </a:rPr>
              <a:t> </a:t>
            </a:r>
            <a:r>
              <a:rPr sz="1550" b="0" dirty="0" err="1">
                <a:solidFill>
                  <a:srgbClr val="0F2C68"/>
                </a:solidFill>
                <a:latin typeface="HSE Sans"/>
              </a:rPr>
              <a:t>оценка</a:t>
            </a:r>
            <a:r>
              <a:rPr sz="1550" b="0" dirty="0">
                <a:solidFill>
                  <a:srgbClr val="0F2C68"/>
                </a:solidFill>
                <a:latin typeface="HSE Sans"/>
              </a:rPr>
              <a:t> </a:t>
            </a:r>
            <a:r>
              <a:rPr sz="1550" b="0" dirty="0" err="1">
                <a:solidFill>
                  <a:srgbClr val="0F2C68"/>
                </a:solidFill>
                <a:latin typeface="HSE Sans"/>
              </a:rPr>
              <a:t>качества</a:t>
            </a:r>
            <a:r>
              <a:rPr sz="1550" b="0" dirty="0">
                <a:solidFill>
                  <a:srgbClr val="0F2C68"/>
                </a:solidFill>
                <a:latin typeface="HSE Sans"/>
              </a:rPr>
              <a:t> </a:t>
            </a:r>
            <a:r>
              <a:rPr sz="1550" b="0" dirty="0" err="1">
                <a:solidFill>
                  <a:srgbClr val="0F2C68"/>
                </a:solidFill>
                <a:latin typeface="HSE Sans"/>
              </a:rPr>
              <a:t>рекомендаций</a:t>
            </a:r>
            <a:endParaRPr sz="1550" b="0" dirty="0">
              <a:solidFill>
                <a:srgbClr val="0F2C68"/>
              </a:solidFill>
              <a:latin typeface="HSE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ontent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_mon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182880"/>
            <a:ext cx="475488" cy="4754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46304"/>
            <a:ext cx="768096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800" b="1">
                <a:solidFill>
                  <a:srgbClr val="0F2C68"/>
                </a:solidFill>
                <a:latin typeface="HSE Sans"/>
              </a:rPr>
              <a:t>Разработка приложения для агрегации информации об IT-событиях и выдачи персональных рекомендаций на основе модели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146304"/>
            <a:ext cx="205740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>
                <a:solidFill>
                  <a:srgbClr val="595959"/>
                </a:solidFill>
                <a:latin typeface="HSE Sans"/>
              </a:rPr>
              <a:t>Защита курсовой,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146304"/>
            <a:ext cx="77724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50" b="1">
                <a:solidFill>
                  <a:srgbClr val="0F2C68"/>
                </a:solidFill>
                <a:latin typeface="HSE Sans"/>
              </a:rPr>
              <a:t>5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14400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0F2C68"/>
                </a:solidFill>
                <a:latin typeface="HSE Sans"/>
              </a:rPr>
              <a:t>Проблемы предметной области</a:t>
            </a:r>
          </a:p>
        </p:txBody>
      </p:sp>
      <p:sp>
        <p:nvSpPr>
          <p:cNvPr id="8" name="Oval 7"/>
          <p:cNvSpPr/>
          <p:nvPr/>
        </p:nvSpPr>
        <p:spPr>
          <a:xfrm>
            <a:off x="4041648" y="3246120"/>
            <a:ext cx="4114800" cy="1371600"/>
          </a:xfrm>
          <a:prstGeom prst="ellipse">
            <a:avLst/>
          </a:prstGeom>
          <a:solidFill>
            <a:srgbClr val="0F2C68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700" b="1">
                <a:solidFill>
                  <a:srgbClr val="FFFFFF"/>
                </a:solidFill>
                <a:latin typeface="HSE Sans"/>
              </a:rPr>
              <a:t>Проблемы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1828800"/>
            <a:ext cx="3291840" cy="1325880"/>
          </a:xfrm>
          <a:prstGeom prst="ellipse">
            <a:avLst/>
          </a:prstGeom>
          <a:solidFill>
            <a:srgbClr val="4472C4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0">
                <a:solidFill>
                  <a:srgbClr val="FFFFFF"/>
                </a:solidFill>
                <a:latin typeface="HSE Sans"/>
              </a:rPr>
              <a:t>Разрозненность источников событий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4754880"/>
            <a:ext cx="3291840" cy="1325880"/>
          </a:xfrm>
          <a:prstGeom prst="ellipse">
            <a:avLst/>
          </a:prstGeom>
          <a:solidFill>
            <a:srgbClr val="4472C4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0">
                <a:solidFill>
                  <a:srgbClr val="FFFFFF"/>
                </a:solidFill>
                <a:latin typeface="HSE Sans"/>
              </a:rPr>
              <a:t>Информационный шум и дубли анонсов</a:t>
            </a:r>
          </a:p>
        </p:txBody>
      </p:sp>
      <p:sp>
        <p:nvSpPr>
          <p:cNvPr id="11" name="Oval 10"/>
          <p:cNvSpPr/>
          <p:nvPr/>
        </p:nvSpPr>
        <p:spPr>
          <a:xfrm>
            <a:off x="4480560" y="5440680"/>
            <a:ext cx="3246120" cy="1280160"/>
          </a:xfrm>
          <a:prstGeom prst="ellipse">
            <a:avLst/>
          </a:prstGeom>
          <a:solidFill>
            <a:srgbClr val="4472C4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0">
                <a:solidFill>
                  <a:srgbClr val="FFFFFF"/>
                </a:solidFill>
                <a:latin typeface="HSE Sans"/>
              </a:rPr>
              <a:t>Нет учёта уровня и карьерной цели</a:t>
            </a:r>
          </a:p>
        </p:txBody>
      </p:sp>
      <p:sp>
        <p:nvSpPr>
          <p:cNvPr id="12" name="Oval 11"/>
          <p:cNvSpPr/>
          <p:nvPr/>
        </p:nvSpPr>
        <p:spPr>
          <a:xfrm>
            <a:off x="8412480" y="1828800"/>
            <a:ext cx="3291840" cy="1325880"/>
          </a:xfrm>
          <a:prstGeom prst="ellipse">
            <a:avLst/>
          </a:prstGeom>
          <a:solidFill>
            <a:srgbClr val="4472C4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0">
                <a:solidFill>
                  <a:srgbClr val="FFFFFF"/>
                </a:solidFill>
                <a:latin typeface="HSE Sans"/>
              </a:rPr>
              <a:t>Рекомендации без объяснения выбора</a:t>
            </a:r>
          </a:p>
        </p:txBody>
      </p:sp>
      <p:sp>
        <p:nvSpPr>
          <p:cNvPr id="13" name="Oval 12"/>
          <p:cNvSpPr/>
          <p:nvPr/>
        </p:nvSpPr>
        <p:spPr>
          <a:xfrm>
            <a:off x="8275320" y="4754880"/>
            <a:ext cx="3291840" cy="1325880"/>
          </a:xfrm>
          <a:prstGeom prst="ellipse">
            <a:avLst/>
          </a:prstGeom>
          <a:solidFill>
            <a:srgbClr val="4472C4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0">
                <a:solidFill>
                  <a:srgbClr val="FFFFFF"/>
                </a:solidFill>
                <a:latin typeface="HSE Sans"/>
              </a:rPr>
              <a:t>Ручная фильтрация отнимает время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ontent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_mon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182880"/>
            <a:ext cx="475488" cy="4754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46304"/>
            <a:ext cx="768096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800" b="1">
                <a:solidFill>
                  <a:srgbClr val="0F2C68"/>
                </a:solidFill>
                <a:latin typeface="HSE Sans"/>
              </a:rPr>
              <a:t>Разработка приложения для агрегации информации об IT-событиях и выдачи персональных рекомендаций на основе модели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146304"/>
            <a:ext cx="205740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>
                <a:solidFill>
                  <a:srgbClr val="595959"/>
                </a:solidFill>
                <a:latin typeface="HSE Sans"/>
              </a:rPr>
              <a:t>Защита курсовой,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146304"/>
            <a:ext cx="77724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50" b="1">
                <a:solidFill>
                  <a:srgbClr val="0F2C68"/>
                </a:solidFill>
                <a:latin typeface="HSE Sans"/>
              </a:rPr>
              <a:t>6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14400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0F2C68"/>
                </a:solidFill>
                <a:latin typeface="HSE Sans"/>
              </a:rPr>
              <a:t>Анализ существующих решений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783080"/>
          <a:ext cx="11201399" cy="42062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776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0104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Решение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Сильные стороны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Ограничения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F2C68"/>
                          </a:solidFill>
                          <a:latin typeface="HSE Sans"/>
                        </a:rPr>
                        <a:t>Универсальные площадки</a:t>
                      </a:r>
                    </a:p>
                    <a:p>
                      <a:r>
                        <a:rPr sz="1150" b="1">
                          <a:solidFill>
                            <a:srgbClr val="0F2C68"/>
                          </a:solidFill>
                          <a:latin typeface="HSE Sans"/>
                        </a:rPr>
                        <a:t>(Timepad, Meetup, Eventbrite)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Фильтры по категориям, городам и датам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Не специализированы на IT, не учитывают поведение пользователя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F2C68"/>
                          </a:solidFill>
                          <a:latin typeface="HSE Sans"/>
                        </a:rPr>
                        <a:t>Тематические IT-площадки</a:t>
                      </a:r>
                    </a:p>
                    <a:p>
                      <a:r>
                        <a:rPr sz="1150" b="1">
                          <a:solidFill>
                            <a:srgbClr val="0F2C68"/>
                          </a:solidFill>
                          <a:latin typeface="HSE Sans"/>
                        </a:rPr>
                        <a:t>(Habr Events)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Релевантный контент по теме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Нет модели интересов и регулярных персональных подборок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F2C68"/>
                          </a:solidFill>
                          <a:latin typeface="HSE Sans"/>
                        </a:rPr>
                        <a:t>Профессиональные сети</a:t>
                      </a:r>
                    </a:p>
                    <a:p>
                      <a:r>
                        <a:rPr sz="1150" b="1">
                          <a:solidFill>
                            <a:srgbClr val="0F2C68"/>
                          </a:solidFill>
                          <a:latin typeface="HSE Sans"/>
                        </a:rPr>
                        <a:t>(LinkedIn Events)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Связь с профессиональным профилем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Фокус на карьерных событиях, мало митапов и конференций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F2C68"/>
                          </a:solidFill>
                          <a:latin typeface="HSE Sans"/>
                        </a:rPr>
                        <a:t>Каналы сообществ</a:t>
                      </a:r>
                    </a:p>
                    <a:p>
                      <a:r>
                        <a:rPr sz="1150" b="1">
                          <a:solidFill>
                            <a:srgbClr val="0F2C68"/>
                          </a:solidFill>
                          <a:latin typeface="HSE Sans"/>
                        </a:rPr>
                        <a:t>(Telegram)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Оперативные анонсы из первых рук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Нет организованного поиска и персонализации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F2C68"/>
                          </a:solidFill>
                          <a:latin typeface="HSE Sans"/>
                        </a:rPr>
                        <a:t>Разрабатываемая система</a:t>
                      </a:r>
                    </a:p>
                  </a:txBody>
                  <a:tcPr anchor="ctr">
                    <a:solidFill>
                      <a:srgbClr val="E3F0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F2C68"/>
                          </a:solidFill>
                          <a:latin typeface="HSE Sans"/>
                        </a:rPr>
                        <a:t>Агрегация из источников, учёт реакций, объяснимые рекомендации</a:t>
                      </a:r>
                    </a:p>
                  </a:txBody>
                  <a:tcPr anchor="ctr">
                    <a:solidFill>
                      <a:srgbClr val="E3F0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F2C68"/>
                          </a:solidFill>
                          <a:latin typeface="HSE Sans"/>
                        </a:rPr>
                        <a:t>Снимает разрозненность, добавляет персонализацию и дайджест</a:t>
                      </a:r>
                    </a:p>
                  </a:txBody>
                  <a:tcPr anchor="ctr">
                    <a:solidFill>
                      <a:srgbClr val="E3F0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640080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95959"/>
                </a:solidFill>
                <a:latin typeface="HSE Sans"/>
              </a:rPr>
              <a:t>Ни одно из решений не объединяет агрегацию из разных источников, учёт неявной обратной связи и объяснимость.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ontent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_mon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182880"/>
            <a:ext cx="475488" cy="4754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46304"/>
            <a:ext cx="768096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800" b="1">
                <a:solidFill>
                  <a:srgbClr val="0F2C68"/>
                </a:solidFill>
                <a:latin typeface="HSE Sans"/>
              </a:rPr>
              <a:t>Разработка приложения для агрегации информации об IT-событиях и выдачи персональных рекомендаций на основе модели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146304"/>
            <a:ext cx="205740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>
                <a:solidFill>
                  <a:srgbClr val="595959"/>
                </a:solidFill>
                <a:latin typeface="HSE Sans"/>
              </a:rPr>
              <a:t>Защита курсовой,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146304"/>
            <a:ext cx="77724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50" b="1">
                <a:solidFill>
                  <a:srgbClr val="0F2C68"/>
                </a:solidFill>
                <a:latin typeface="HSE Sans"/>
              </a:rPr>
              <a:t>7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14400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0F2C68"/>
                </a:solidFill>
                <a:latin typeface="HSE Sans"/>
              </a:rPr>
              <a:t>Анализ подходов к рекомендациям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737360"/>
          <a:ext cx="11201400" cy="4572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97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53142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Подход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Преимущества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Недостатки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В системе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314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F2C68"/>
                          </a:solidFill>
                          <a:latin typeface="HSE Sans"/>
                        </a:rPr>
                        <a:t>По содержанию</a:t>
                      </a:r>
                    </a:p>
                    <a:p>
                      <a:r>
                        <a:rPr sz="1050" b="1">
                          <a:solidFill>
                            <a:srgbClr val="0F2C68"/>
                          </a:solidFill>
                          <a:latin typeface="HSE Sans"/>
                        </a:rPr>
                        <a:t>(rule + cosine)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95959"/>
                          </a:solidFill>
                          <a:latin typeface="HSE Sans"/>
                        </a:rPr>
                        <a:t>Работает при малом числе пользователей, объясним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95959"/>
                          </a:solidFill>
                          <a:latin typeface="HSE Sans"/>
                        </a:rPr>
                        <a:t>Ограниченное разнообразие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95959"/>
                          </a:solidFill>
                          <a:latin typeface="HSE Sans"/>
                        </a:rPr>
                        <a:t>Базовые правила + близость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314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F2C68"/>
                          </a:solidFill>
                          <a:latin typeface="HSE Sans"/>
                        </a:rPr>
                        <a:t>Коллаборативная</a:t>
                      </a:r>
                    </a:p>
                    <a:p>
                      <a:r>
                        <a:rPr sz="1050" b="1">
                          <a:solidFill>
                            <a:srgbClr val="0F2C68"/>
                          </a:solidFill>
                          <a:latin typeface="HSE Sans"/>
                        </a:rPr>
                        <a:t>фильтрация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95959"/>
                          </a:solidFill>
                          <a:latin typeface="HSE Sans"/>
                        </a:rPr>
                        <a:t>Скрытые закономерности, неожиданные находки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95959"/>
                          </a:solidFill>
                          <a:latin typeface="HSE Sans"/>
                        </a:rPr>
                        <a:t>Холодный старт, нужны объёмы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95959"/>
                          </a:solidFill>
                          <a:latin typeface="HSE Sans"/>
                        </a:rPr>
                        <a:t>LightGCN (эксперим.)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314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F2C68"/>
                          </a:solidFill>
                          <a:latin typeface="HSE Sans"/>
                        </a:rPr>
                        <a:t>Семантический</a:t>
                      </a:r>
                    </a:p>
                    <a:p>
                      <a:r>
                        <a:rPr sz="1050" b="1">
                          <a:solidFill>
                            <a:srgbClr val="0F2C68"/>
                          </a:solidFill>
                          <a:latin typeface="HSE Sans"/>
                        </a:rPr>
                        <a:t>(эмбеддинги)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95959"/>
                          </a:solidFill>
                          <a:latin typeface="HSE Sans"/>
                        </a:rPr>
                        <a:t>Учёт смысла, многоязычность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95959"/>
                          </a:solidFill>
                          <a:latin typeface="HSE Sans"/>
                        </a:rPr>
                        <a:t>Затраты на векторы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95959"/>
                          </a:solidFill>
                          <a:latin typeface="HSE Sans"/>
                        </a:rPr>
                        <a:t>MiniLM + pgvector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314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F2C68"/>
                          </a:solidFill>
                          <a:latin typeface="HSE Sans"/>
                        </a:rPr>
                        <a:t>Контекстный</a:t>
                      </a:r>
                    </a:p>
                    <a:p>
                      <a:r>
                        <a:rPr sz="1050" b="1">
                          <a:solidFill>
                            <a:srgbClr val="0F2C68"/>
                          </a:solidFill>
                          <a:latin typeface="HSE Sans"/>
                        </a:rPr>
                        <a:t>бандит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95959"/>
                          </a:solidFill>
                          <a:latin typeface="HSE Sans"/>
                        </a:rPr>
                        <a:t>Баланс новизны и точности, онлайн-адаптация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95959"/>
                          </a:solidFill>
                          <a:latin typeface="HSE Sans"/>
                        </a:rPr>
                        <a:t>Настройка признаков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95959"/>
                          </a:solidFill>
                          <a:latin typeface="HSE Sans"/>
                        </a:rPr>
                        <a:t>LinUCB поверх гибрида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314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F2C68"/>
                          </a:solidFill>
                          <a:latin typeface="HSE Sans"/>
                        </a:rPr>
                        <a:t>Долговременная</a:t>
                      </a:r>
                    </a:p>
                    <a:p>
                      <a:r>
                        <a:rPr sz="1050" b="1">
                          <a:solidFill>
                            <a:srgbClr val="0F2C68"/>
                          </a:solidFill>
                          <a:latin typeface="HSE Sans"/>
                        </a:rPr>
                        <a:t>память (mem0)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95959"/>
                          </a:solidFill>
                          <a:latin typeface="HSE Sans"/>
                        </a:rPr>
                        <a:t>Запоминает цели и интересы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95959"/>
                          </a:solidFill>
                          <a:latin typeface="HSE Sans"/>
                        </a:rPr>
                        <a:t>Затраты на LLM, риск устаревания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95959"/>
                          </a:solidFill>
                          <a:latin typeface="HSE Sans"/>
                        </a:rPr>
                        <a:t>Семантический поиск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531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F2C68"/>
                          </a:solidFill>
                          <a:latin typeface="HSE Sans"/>
                        </a:rPr>
                        <a:t>Гибридный</a:t>
                      </a:r>
                    </a:p>
                    <a:p>
                      <a:r>
                        <a:rPr sz="1050" b="1">
                          <a:solidFill>
                            <a:srgbClr val="0F2C68"/>
                          </a:solidFill>
                          <a:latin typeface="HSE Sans"/>
                        </a:rPr>
                        <a:t>подход</a:t>
                      </a:r>
                    </a:p>
                  </a:txBody>
                  <a:tcPr anchor="ctr">
                    <a:solidFill>
                      <a:srgbClr val="E3F0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F2C68"/>
                          </a:solidFill>
                          <a:latin typeface="HSE Sans"/>
                        </a:rPr>
                        <a:t>Точность, устойчивость к холодному старту</a:t>
                      </a:r>
                    </a:p>
                  </a:txBody>
                  <a:tcPr anchor="ctr">
                    <a:solidFill>
                      <a:srgbClr val="E3F0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F2C68"/>
                          </a:solidFill>
                          <a:latin typeface="HSE Sans"/>
                        </a:rPr>
                        <a:t>Сложность настройки весов</a:t>
                      </a:r>
                    </a:p>
                  </a:txBody>
                  <a:tcPr anchor="ctr">
                    <a:solidFill>
                      <a:srgbClr val="E3F0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F2C68"/>
                          </a:solidFill>
                          <a:latin typeface="HSE Sans"/>
                        </a:rPr>
                        <a:t>Основной алгоритм</a:t>
                      </a:r>
                    </a:p>
                  </a:txBody>
                  <a:tcPr anchor="ctr">
                    <a:solidFill>
                      <a:srgbClr val="E3F0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ontent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_mon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182880"/>
            <a:ext cx="475488" cy="4754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46304"/>
            <a:ext cx="768096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800" b="1">
                <a:solidFill>
                  <a:srgbClr val="0F2C68"/>
                </a:solidFill>
                <a:latin typeface="HSE Sans"/>
              </a:rPr>
              <a:t>Разработка приложения для агрегации информации об IT-событиях и выдачи персональных рекомендаций на основе модели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146304"/>
            <a:ext cx="205740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>
                <a:solidFill>
                  <a:srgbClr val="595959"/>
                </a:solidFill>
                <a:latin typeface="HSE Sans"/>
              </a:rPr>
              <a:t>Защита курсовой,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146304"/>
            <a:ext cx="77724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50" b="1">
                <a:solidFill>
                  <a:srgbClr val="0F2C68"/>
                </a:solidFill>
                <a:latin typeface="HSE Sans"/>
              </a:rPr>
              <a:t>8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14400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0F2C68"/>
                </a:solidFill>
                <a:latin typeface="HSE Sans"/>
              </a:rPr>
              <a:t>Диаграмма вариантов использования</a:t>
            </a:r>
          </a:p>
        </p:txBody>
      </p:sp>
      <p:pic>
        <p:nvPicPr>
          <p:cNvPr id="8" name="Picture 7" descr="01_use_ca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9576" y="1533906"/>
            <a:ext cx="5529834" cy="512716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680960" y="1828800"/>
            <a:ext cx="4023360" cy="2103120"/>
          </a:xfrm>
          <a:prstGeom prst="rect">
            <a:avLst/>
          </a:prstGeom>
          <a:solidFill>
            <a:srgbClr val="EAEFF7"/>
          </a:solidFill>
          <a:ln w="9525">
            <a:solidFill>
              <a:srgbClr val="0F2C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101600" rIns="101600" bIns="101600" rtlCol="0" anchor="t"/>
          <a:lstStyle/>
          <a:p>
            <a:pPr algn="ctr"/>
            <a:r>
              <a:rPr sz="1500" b="1">
                <a:solidFill>
                  <a:srgbClr val="0F2C68"/>
                </a:solidFill>
                <a:latin typeface="HSE Sans"/>
              </a:rPr>
              <a:t>Пользователь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595959"/>
                </a:solidFill>
                <a:latin typeface="HSE Sans"/>
              </a:rPr>
              <a:t>Настройка профиля, персональная лента, объяснения, оценки и сохранения, поиск обычным языком, дайджест.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80960" y="4114800"/>
            <a:ext cx="4023360" cy="1737360"/>
          </a:xfrm>
          <a:prstGeom prst="rect">
            <a:avLst/>
          </a:prstGeom>
          <a:solidFill>
            <a:srgbClr val="E3F0E6"/>
          </a:solidFill>
          <a:ln w="9525">
            <a:solidFill>
              <a:srgbClr val="0F2C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101600" rIns="101600" bIns="101600" rtlCol="0" anchor="t"/>
          <a:lstStyle/>
          <a:p>
            <a:pPr algn="ctr"/>
            <a:r>
              <a:rPr sz="1500" b="1">
                <a:solidFill>
                  <a:srgbClr val="0F2C68"/>
                </a:solidFill>
                <a:latin typeface="HSE Sans"/>
              </a:rPr>
              <a:t>Администратор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595959"/>
                </a:solidFill>
                <a:latin typeface="HSE Sans"/>
              </a:rPr>
              <a:t>Загрузка событий из источников и просмотр аналитики по системе.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ontent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_mon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182880"/>
            <a:ext cx="475488" cy="4754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46304"/>
            <a:ext cx="768096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800" b="1">
                <a:solidFill>
                  <a:srgbClr val="0F2C68"/>
                </a:solidFill>
                <a:latin typeface="HSE Sans"/>
              </a:rPr>
              <a:t>Разработка приложения для агрегации информации об IT-событиях и выдачи персональных рекомендаций на основе модели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146304"/>
            <a:ext cx="205740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>
                <a:solidFill>
                  <a:srgbClr val="595959"/>
                </a:solidFill>
                <a:latin typeface="HSE Sans"/>
              </a:rPr>
              <a:t>Защита курсовой,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146304"/>
            <a:ext cx="77724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50" b="1">
                <a:solidFill>
                  <a:srgbClr val="0F2C68"/>
                </a:solidFill>
                <a:latin typeface="HSE Sans"/>
              </a:rPr>
              <a:t>9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14400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0F2C68"/>
                </a:solidFill>
                <a:latin typeface="HSE Sans"/>
              </a:rPr>
              <a:t>Бизнес-процесс системы</a:t>
            </a:r>
          </a:p>
        </p:txBody>
      </p:sp>
      <p:pic>
        <p:nvPicPr>
          <p:cNvPr id="8" name="Picture 7" descr="02_business_proce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663" y="1691640"/>
            <a:ext cx="10576192" cy="4572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40080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95959"/>
                </a:solidFill>
                <a:latin typeface="HSE Sans"/>
              </a:rPr>
              <a:t>От сбора и нормализации событий до доставки персональной ленты и обработки обратной связи.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ontent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_mon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182880"/>
            <a:ext cx="475488" cy="4754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46304"/>
            <a:ext cx="768096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800" b="1">
                <a:solidFill>
                  <a:srgbClr val="0F2C68"/>
                </a:solidFill>
                <a:latin typeface="HSE Sans"/>
              </a:rPr>
              <a:t>Разработка приложения для агрегации информации об IT-событиях и выдачи персональных рекомендаций на основе модели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146304"/>
            <a:ext cx="205740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>
                <a:solidFill>
                  <a:srgbClr val="595959"/>
                </a:solidFill>
                <a:latin typeface="HSE Sans"/>
              </a:rPr>
              <a:t>Защита курсовой,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146304"/>
            <a:ext cx="77724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50" b="1">
                <a:solidFill>
                  <a:srgbClr val="0F2C68"/>
                </a:solidFill>
                <a:latin typeface="HSE Sans"/>
              </a:rPr>
              <a:t>10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14400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0F2C68"/>
                </a:solidFill>
                <a:latin typeface="HSE Sans"/>
              </a:rPr>
              <a:t>Архитектура: серверная часть</a:t>
            </a:r>
          </a:p>
        </p:txBody>
      </p:sp>
      <p:pic>
        <p:nvPicPr>
          <p:cNvPr id="8" name="Picture 7" descr="03_c4_contain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7045" y="1554480"/>
            <a:ext cx="4120948" cy="4846320"/>
          </a:xfrm>
          <a:prstGeom prst="rect">
            <a:avLst/>
          </a:prstGeom>
        </p:spPr>
      </p:pic>
      <p:pic>
        <p:nvPicPr>
          <p:cNvPr id="9" name="Picture 8" descr="tmpm85p2vo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92866" y="1691640"/>
            <a:ext cx="5627947" cy="4526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640080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95959"/>
                </a:solidFill>
                <a:latin typeface="HSE Sans"/>
              </a:rPr>
              <a:t>Слева — общая схема на уровне контейнеров; справа — приближён модуль «серверная часть».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ontent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_mon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182880"/>
            <a:ext cx="475488" cy="4754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46304"/>
            <a:ext cx="768096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800" b="1">
                <a:solidFill>
                  <a:srgbClr val="0F2C68"/>
                </a:solidFill>
                <a:latin typeface="HSE Sans"/>
              </a:rPr>
              <a:t>Разработка приложения для агрегации информации об IT-событиях и выдачи персональных рекомендаций на основе модели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146304"/>
            <a:ext cx="205740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>
                <a:solidFill>
                  <a:srgbClr val="595959"/>
                </a:solidFill>
                <a:latin typeface="HSE Sans"/>
              </a:rPr>
              <a:t>Защита курсовой,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146304"/>
            <a:ext cx="77724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50" b="1">
                <a:solidFill>
                  <a:srgbClr val="0F2C68"/>
                </a:solidFill>
                <a:latin typeface="HSE Sans"/>
              </a:rPr>
              <a:t>11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14400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0F2C68"/>
                </a:solidFill>
                <a:latin typeface="HSE Sans"/>
              </a:rPr>
              <a:t>Архитектура: Telegram-бот</a:t>
            </a:r>
          </a:p>
        </p:txBody>
      </p:sp>
      <p:pic>
        <p:nvPicPr>
          <p:cNvPr id="8" name="Picture 7" descr="03_c4_contain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7045" y="1554480"/>
            <a:ext cx="4120948" cy="4846320"/>
          </a:xfrm>
          <a:prstGeom prst="rect">
            <a:avLst/>
          </a:prstGeom>
        </p:spPr>
      </p:pic>
      <p:pic>
        <p:nvPicPr>
          <p:cNvPr id="9" name="Picture 8" descr="tmpb7fwq1j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79690" y="1691640"/>
            <a:ext cx="5454298" cy="4526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640080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95959"/>
                </a:solidFill>
                <a:latin typeface="HSE Sans"/>
              </a:rPr>
              <a:t>Слева — общая схема на уровне контейнеров; справа — приближён модуль «Telegram-бот».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ontent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_mon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182880"/>
            <a:ext cx="475488" cy="4754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46304"/>
            <a:ext cx="768096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800" b="1">
                <a:solidFill>
                  <a:srgbClr val="0F2C68"/>
                </a:solidFill>
                <a:latin typeface="HSE Sans"/>
              </a:rPr>
              <a:t>Разработка приложения для агрегации информации об IT-событиях и выдачи персональных рекомендаций на основе модели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146304"/>
            <a:ext cx="205740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>
                <a:solidFill>
                  <a:srgbClr val="595959"/>
                </a:solidFill>
                <a:latin typeface="HSE Sans"/>
              </a:rPr>
              <a:t>Защита курсовой,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146304"/>
            <a:ext cx="77724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50" b="1">
                <a:solidFill>
                  <a:srgbClr val="0F2C68"/>
                </a:solidFill>
                <a:latin typeface="HSE Sans"/>
              </a:rPr>
              <a:t>12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14400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0F2C68"/>
                </a:solidFill>
                <a:latin typeface="HSE Sans"/>
              </a:rPr>
              <a:t>Архитектура: планировщик</a:t>
            </a:r>
          </a:p>
        </p:txBody>
      </p:sp>
      <p:pic>
        <p:nvPicPr>
          <p:cNvPr id="8" name="Picture 7" descr="03_c4_contain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7045" y="1554480"/>
            <a:ext cx="4120948" cy="4846320"/>
          </a:xfrm>
          <a:prstGeom prst="rect">
            <a:avLst/>
          </a:prstGeom>
        </p:spPr>
      </p:pic>
      <p:pic>
        <p:nvPicPr>
          <p:cNvPr id="9" name="Picture 8" descr="tmpmuntr2k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0" y="1903016"/>
            <a:ext cx="5760719" cy="410352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640080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95959"/>
                </a:solidFill>
                <a:latin typeface="HSE Sans"/>
              </a:rPr>
              <a:t>Слева — общая схема на уровне контейнеров; справа — приближён модуль «планировщик».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ontent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_mon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182880"/>
            <a:ext cx="475488" cy="4754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46304"/>
            <a:ext cx="768096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800" b="1">
                <a:solidFill>
                  <a:srgbClr val="0F2C68"/>
                </a:solidFill>
                <a:latin typeface="HSE Sans"/>
              </a:rPr>
              <a:t>Разработка приложения для агрегации информации об IT-событиях и выдачи персональных рекомендаций на основе модели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146304"/>
            <a:ext cx="205740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>
                <a:solidFill>
                  <a:srgbClr val="595959"/>
                </a:solidFill>
                <a:latin typeface="HSE Sans"/>
              </a:rPr>
              <a:t>Защита курсовой,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146304"/>
            <a:ext cx="77724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50" b="1">
                <a:solidFill>
                  <a:srgbClr val="0F2C68"/>
                </a:solidFill>
                <a:latin typeface="HSE Sans"/>
              </a:rPr>
              <a:t>13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2921168"/>
            <a:ext cx="2160270" cy="101566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 dirty="0" err="1">
                <a:solidFill>
                  <a:srgbClr val="0F2C68"/>
                </a:solidFill>
                <a:latin typeface="HSE Sans"/>
              </a:rPr>
              <a:t>Модель</a:t>
            </a:r>
            <a:r>
              <a:rPr sz="3000" b="1" dirty="0">
                <a:solidFill>
                  <a:srgbClr val="0F2C68"/>
                </a:solidFill>
                <a:latin typeface="HSE Sans"/>
              </a:rPr>
              <a:t> </a:t>
            </a:r>
            <a:r>
              <a:rPr sz="3000" b="1" dirty="0" err="1">
                <a:solidFill>
                  <a:srgbClr val="0F2C68"/>
                </a:solidFill>
                <a:latin typeface="HSE Sans"/>
              </a:rPr>
              <a:t>данных</a:t>
            </a:r>
            <a:endParaRPr sz="3000" b="1" dirty="0">
              <a:solidFill>
                <a:srgbClr val="0F2C68"/>
              </a:solidFill>
              <a:latin typeface="HSE Sans"/>
            </a:endParaRPr>
          </a:p>
        </p:txBody>
      </p:sp>
      <p:pic>
        <p:nvPicPr>
          <p:cNvPr id="8" name="Picture 7" descr="04_er_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0459" y="557784"/>
            <a:ext cx="6942125" cy="5742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40080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95959"/>
                </a:solidFill>
                <a:latin typeface="HSE Sans"/>
              </a:rPr>
              <a:t>Связи проведены от ключа к ключу (PK → FK): пользователи, события, взаимодействия, векторы, состояние бандита и память.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ontent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_mon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182880"/>
            <a:ext cx="475488" cy="4754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46304"/>
            <a:ext cx="768096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800" b="1">
                <a:solidFill>
                  <a:srgbClr val="0F2C68"/>
                </a:solidFill>
                <a:latin typeface="HSE Sans"/>
              </a:rPr>
              <a:t>Разработка приложения для агрегации информации об IT-событиях и выдачи персональных рекомендаций на основе модели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146304"/>
            <a:ext cx="205740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>
                <a:solidFill>
                  <a:srgbClr val="595959"/>
                </a:solidFill>
                <a:latin typeface="HSE Sans"/>
              </a:rPr>
              <a:t>Защита курсовой,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146304"/>
            <a:ext cx="77724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50" b="1">
                <a:solidFill>
                  <a:srgbClr val="0F2C68"/>
                </a:solidFill>
                <a:latin typeface="HSE Sans"/>
              </a:rPr>
              <a:t>14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14400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0F2C68"/>
                </a:solidFill>
                <a:latin typeface="HSE Sans"/>
              </a:rPr>
              <a:t>Гибридный рекомендатель: 9 компонент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691640"/>
          <a:ext cx="8229600" cy="47091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0916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Компонент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Парадигма / источник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Назначение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091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2C68"/>
                          </a:solidFill>
                          <a:latin typeface="HSE Sans"/>
                        </a:rPr>
                        <a:t>rule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по правилам, профиль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Совпадение явных предпочтений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091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2C68"/>
                          </a:solidFill>
                          <a:latin typeface="HSE Sans"/>
                        </a:rPr>
                        <a:t>cosine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по содержанию, эмбеддинги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Семантическая близость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091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2C68"/>
                          </a:solidFill>
                          <a:latin typeface="HSE Sans"/>
                        </a:rPr>
                        <a:t>bayesian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Thompson sampling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Статистика по темам с затуханием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091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2C68"/>
                          </a:solidFill>
                          <a:latin typeface="HSE Sans"/>
                        </a:rPr>
                        <a:t>quality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оценка LLM 1–10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Качество описания и источника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091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2C68"/>
                          </a:solidFill>
                          <a:latin typeface="HSE Sans"/>
                        </a:rPr>
                        <a:t>hype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оценка LLM 1–10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Актуальность темы сейчас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091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2C68"/>
                          </a:solidFill>
                          <a:latin typeface="HSE Sans"/>
                        </a:rPr>
                        <a:t>freshness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затухание по дате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Свежесть события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091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2C68"/>
                          </a:solidFill>
                          <a:latin typeface="HSE Sans"/>
                        </a:rPr>
                        <a:t>skill_gap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учёт карьерной цели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Соответствие цели пользователя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091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2C68"/>
                          </a:solidFill>
                          <a:latin typeface="HSE Sans"/>
                        </a:rPr>
                        <a:t>bandit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контекстный LinUCB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Баланс новизны и точности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7091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2C68"/>
                          </a:solidFill>
                          <a:latin typeface="HSE Sans"/>
                        </a:rPr>
                        <a:t>gnn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коллаборативный LightGCN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Коллаборативный сигнал (эксперим.)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8961120" y="1828800"/>
            <a:ext cx="292608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Веса задаются конфигурацией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Переранжирование MMR (λ=0.7) для разнообразия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Антиповтор серий: один выпуск из серии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Каждая компонента изолирована — сбой не ломает выдачу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Кэш выдачи на 15 минут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ontent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_mon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182880"/>
            <a:ext cx="475488" cy="4754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46304"/>
            <a:ext cx="768096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800" b="1">
                <a:solidFill>
                  <a:srgbClr val="0F2C68"/>
                </a:solidFill>
                <a:latin typeface="HSE Sans"/>
              </a:rPr>
              <a:t>Разработка приложения для агрегации информации об IT-событиях и выдачи персональных рекомендаций на основе модели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146304"/>
            <a:ext cx="205740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>
                <a:solidFill>
                  <a:srgbClr val="595959"/>
                </a:solidFill>
                <a:latin typeface="HSE Sans"/>
              </a:rPr>
              <a:t>Защита курсовой,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146304"/>
            <a:ext cx="77724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50" b="1">
                <a:solidFill>
                  <a:srgbClr val="0F2C68"/>
                </a:solidFill>
                <a:latin typeface="HSE Sans"/>
              </a:rPr>
              <a:t>15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19" y="2763315"/>
            <a:ext cx="2735477" cy="101566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 dirty="0" err="1">
                <a:solidFill>
                  <a:srgbClr val="0F2C68"/>
                </a:solidFill>
                <a:latin typeface="HSE Sans"/>
              </a:rPr>
              <a:t>Как</a:t>
            </a:r>
            <a:r>
              <a:rPr sz="3000" b="1" dirty="0">
                <a:solidFill>
                  <a:srgbClr val="0F2C68"/>
                </a:solidFill>
                <a:latin typeface="HSE Sans"/>
              </a:rPr>
              <a:t> </a:t>
            </a:r>
            <a:r>
              <a:rPr sz="3000" b="1" dirty="0" err="1">
                <a:solidFill>
                  <a:srgbClr val="0F2C68"/>
                </a:solidFill>
                <a:latin typeface="HSE Sans"/>
              </a:rPr>
              <a:t>строится</a:t>
            </a:r>
            <a:r>
              <a:rPr sz="3000" b="1" dirty="0">
                <a:solidFill>
                  <a:srgbClr val="0F2C68"/>
                </a:solidFill>
                <a:latin typeface="HSE Sans"/>
              </a:rPr>
              <a:t> </a:t>
            </a:r>
            <a:r>
              <a:rPr sz="3000" b="1" dirty="0" err="1">
                <a:solidFill>
                  <a:srgbClr val="0F2C68"/>
                </a:solidFill>
                <a:latin typeface="HSE Sans"/>
              </a:rPr>
              <a:t>рекомендация</a:t>
            </a:r>
            <a:endParaRPr sz="3000" b="1" dirty="0">
              <a:solidFill>
                <a:srgbClr val="0F2C68"/>
              </a:solidFill>
              <a:latin typeface="HSE Sans"/>
            </a:endParaRPr>
          </a:p>
        </p:txBody>
      </p:sp>
      <p:pic>
        <p:nvPicPr>
          <p:cNvPr id="8" name="Picture 7" descr="05_sequence_recomme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4680" y="749468"/>
            <a:ext cx="8754971" cy="53823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40080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95959"/>
                </a:solidFill>
                <a:latin typeface="HSE Sans"/>
              </a:rPr>
              <a:t>Запрос ленты → гибрид отбирает top-N → один вызов LLM пишет объяснения пакетом (по найденным фактам, без выдумок).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ontent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_mon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182880"/>
            <a:ext cx="475488" cy="4754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46304"/>
            <a:ext cx="768096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800" b="1">
                <a:solidFill>
                  <a:srgbClr val="0F2C68"/>
                </a:solidFill>
                <a:latin typeface="HSE Sans"/>
              </a:rPr>
              <a:t>Разработка приложения для агрегации информации об IT-событиях и выдачи персональных рекомендаций на основе модели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146304"/>
            <a:ext cx="205740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>
                <a:solidFill>
                  <a:srgbClr val="595959"/>
                </a:solidFill>
                <a:latin typeface="HSE Sans"/>
              </a:rPr>
              <a:t>Защита курсовой,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146304"/>
            <a:ext cx="77724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50" b="1">
                <a:solidFill>
                  <a:srgbClr val="0F2C68"/>
                </a:solidFill>
                <a:latin typeface="HSE Sans"/>
              </a:rPr>
              <a:t>16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14400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0F2C68"/>
                </a:solidFill>
                <a:latin typeface="HSE Sans"/>
              </a:rPr>
              <a:t>Сбор и нормализация событий</a:t>
            </a:r>
          </a:p>
        </p:txBody>
      </p:sp>
      <p:pic>
        <p:nvPicPr>
          <p:cNvPr id="8" name="Picture 7" descr="06_activity_normaliz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979081"/>
            <a:ext cx="11430000" cy="225975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60" y="4663440"/>
            <a:ext cx="53949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F2C68"/>
                </a:solidFill>
                <a:latin typeface="HSE Sans"/>
              </a:rPr>
              <a:t>•  6 источников: habr, rss, kudago, luma, meetup, telegram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2C68"/>
                </a:solidFill>
                <a:latin typeface="HSE Sans"/>
              </a:rPr>
              <a:t>•  Сырьё → таблица raw_events → нормализация через LLM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2C68"/>
                </a:solidFill>
                <a:latin typeface="HSE Sans"/>
              </a:rPr>
              <a:t>•  Проверка типов и дат (Pydantic)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663440"/>
            <a:ext cx="51206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F2C68"/>
                </a:solidFill>
                <a:latin typeface="HSE Sans"/>
              </a:rPr>
              <a:t>•  Поиск дубликатов по вектору (pgvector, cosine ≥ 0.92)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2C68"/>
                </a:solidFill>
                <a:latin typeface="HSE Sans"/>
              </a:rPr>
              <a:t>•  Идемпотентный повторный сбор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2C68"/>
                </a:solidFill>
                <a:latin typeface="HSE Sans"/>
              </a:rPr>
              <a:t>•  Пакетная нормализация с адаптивным размером порции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ontent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_mon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182880"/>
            <a:ext cx="475488" cy="4754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46304"/>
            <a:ext cx="768096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800" b="1">
                <a:solidFill>
                  <a:srgbClr val="0F2C68"/>
                </a:solidFill>
                <a:latin typeface="HSE Sans"/>
              </a:rPr>
              <a:t>Разработка приложения для агрегации информации об IT-событиях и выдачи персональных рекомендаций на основе модели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146304"/>
            <a:ext cx="205740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>
                <a:solidFill>
                  <a:srgbClr val="595959"/>
                </a:solidFill>
                <a:latin typeface="HSE Sans"/>
              </a:rPr>
              <a:t>Защита курсовой,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146304"/>
            <a:ext cx="77724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50" b="1">
                <a:solidFill>
                  <a:srgbClr val="0F2C68"/>
                </a:solidFill>
                <a:latin typeface="HSE Sans"/>
              </a:rPr>
              <a:t>17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14400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0F2C68"/>
                </a:solidFill>
                <a:latin typeface="HSE Sans"/>
              </a:rPr>
              <a:t>Цепочка LLM и надёжность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783080"/>
            <a:ext cx="5486400" cy="3383280"/>
          </a:xfrm>
          <a:prstGeom prst="rect">
            <a:avLst/>
          </a:prstGeom>
          <a:solidFill>
            <a:srgbClr val="EAEFF7"/>
          </a:solidFill>
          <a:ln w="9525">
            <a:solidFill>
              <a:srgbClr val="0F2C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101600" rIns="101600" bIns="101600" rtlCol="0" anchor="t"/>
          <a:lstStyle/>
          <a:p>
            <a:pPr algn="ctr"/>
            <a:r>
              <a:rPr sz="1500" b="1">
                <a:solidFill>
                  <a:srgbClr val="0F2C68"/>
                </a:solidFill>
                <a:latin typeface="HSE Sans"/>
              </a:rPr>
              <a:t>Цепочка провайдеров</a:t>
            </a:r>
          </a:p>
          <a:p>
            <a:pPr>
              <a:spcBef>
                <a:spcPts val="300"/>
              </a:spcBef>
            </a:pPr>
            <a:r>
              <a:rPr sz="1350">
                <a:solidFill>
                  <a:srgbClr val="595959"/>
                </a:solidFill>
                <a:latin typeface="HSE Sans"/>
              </a:rPr>
              <a:t>1.  Gemini — основной (транспорт REST, автоподбор модели)</a:t>
            </a:r>
          </a:p>
          <a:p>
            <a:pPr>
              <a:spcBef>
                <a:spcPts val="300"/>
              </a:spcBef>
            </a:pPr>
            <a:r>
              <a:rPr sz="1350">
                <a:solidFill>
                  <a:srgbClr val="595959"/>
                </a:solidFill>
                <a:latin typeface="HSE Sans"/>
              </a:rPr>
              <a:t>2.  Groq llama-3.3-70b — резерв</a:t>
            </a:r>
          </a:p>
          <a:p>
            <a:pPr>
              <a:spcBef>
                <a:spcPts val="300"/>
              </a:spcBef>
            </a:pPr>
            <a:r>
              <a:rPr sz="1350">
                <a:solidFill>
                  <a:srgbClr val="595959"/>
                </a:solidFill>
                <a:latin typeface="HSE Sans"/>
              </a:rPr>
              <a:t>3.  Groq llama-3.1-8b — крайний резерв</a:t>
            </a:r>
          </a:p>
          <a:p>
            <a:pPr>
              <a:spcBef>
                <a:spcPts val="300"/>
              </a:spcBef>
            </a:pPr>
            <a:endParaRPr sz="1350">
              <a:solidFill>
                <a:srgbClr val="595959"/>
              </a:solidFill>
              <a:latin typeface="HSE Sans"/>
            </a:endParaRPr>
          </a:p>
          <a:p>
            <a:pPr>
              <a:spcBef>
                <a:spcPts val="300"/>
              </a:spcBef>
            </a:pPr>
            <a:r>
              <a:rPr sz="1350">
                <a:solidFill>
                  <a:srgbClr val="595959"/>
                </a:solidFill>
                <a:latin typeface="HSE Sans"/>
              </a:rPr>
              <a:t>Предохранитель: 5 сбоёв подряд → пауза 120 с.</a:t>
            </a:r>
          </a:p>
          <a:p>
            <a:pPr>
              <a:spcBef>
                <a:spcPts val="300"/>
              </a:spcBef>
            </a:pPr>
            <a:r>
              <a:rPr sz="1350">
                <a:solidFill>
                  <a:srgbClr val="595959"/>
                </a:solidFill>
                <a:latin typeface="HSE Sans"/>
              </a:rPr>
              <a:t>Пауза по провайдеру: 2 сбоя → пропуск на 10 минут.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828800"/>
            <a:ext cx="548640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2C68"/>
                </a:solidFill>
                <a:latin typeface="HSE Sans"/>
              </a:rPr>
              <a:t>•  Плавная деградация на двух уровнях:</a:t>
            </a:r>
          </a:p>
          <a:p>
            <a:pPr lvl="1">
              <a:spcAft>
                <a:spcPts val="1000"/>
              </a:spcAft>
            </a:pPr>
            <a:r>
              <a:rPr sz="1200" b="0">
                <a:solidFill>
                  <a:srgbClr val="595959"/>
                </a:solidFill>
                <a:latin typeface="HSE Sans"/>
              </a:rPr>
              <a:t>–  LLM → следующий провайдер цепочки</a:t>
            </a:r>
          </a:p>
          <a:p>
            <a:pPr lvl="1">
              <a:spcAft>
                <a:spcPts val="1000"/>
              </a:spcAft>
            </a:pPr>
            <a:r>
              <a:rPr sz="1200" b="0">
                <a:solidFill>
                  <a:srgbClr val="595959"/>
                </a:solidFill>
                <a:latin typeface="HSE Sans"/>
              </a:rPr>
              <a:t>–  гибрид → выдача только по правилам при сбое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2C68"/>
                </a:solidFill>
                <a:latin typeface="HSE Sans"/>
              </a:rPr>
              <a:t>•  Общий секрет X-API-Key + логирование запросов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2C68"/>
                </a:solidFill>
                <a:latin typeface="HSE Sans"/>
              </a:rPr>
              <a:t>•  Очистка пользовательского ввода от инъекций в промпт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2C68"/>
                </a:solidFill>
                <a:latin typeface="HSE Sans"/>
              </a:rPr>
              <a:t>•  Выдача только на чтение + кэш рекомендаций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ontent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_mon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182880"/>
            <a:ext cx="475488" cy="4754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46304"/>
            <a:ext cx="768096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800" b="1">
                <a:solidFill>
                  <a:srgbClr val="0F2C68"/>
                </a:solidFill>
                <a:latin typeface="HSE Sans"/>
              </a:rPr>
              <a:t>Разработка приложения для агрегации информации об IT-событиях и выдачи персональных рекомендаций на основе модели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146304"/>
            <a:ext cx="205740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>
                <a:solidFill>
                  <a:srgbClr val="595959"/>
                </a:solidFill>
                <a:latin typeface="HSE Sans"/>
              </a:rPr>
              <a:t>Защита курсовой,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146304"/>
            <a:ext cx="77724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50" b="1">
                <a:solidFill>
                  <a:srgbClr val="0F2C68"/>
                </a:solidFill>
                <a:latin typeface="HSE Sans"/>
              </a:rPr>
              <a:t>18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14400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0F2C68"/>
                </a:solidFill>
                <a:latin typeface="HSE Sans"/>
              </a:rPr>
              <a:t>Оценка качества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F2C68"/>
                </a:solidFill>
                <a:latin typeface="HSE Sans"/>
              </a:rPr>
              <a:t>Оффлайн-оценка (Recall@k / nDCG@k)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920240"/>
          <a:ext cx="11155680" cy="17373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3434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Алгоритм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Recall@5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Recall@10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nDCG@5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nDCG@10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F2C68"/>
                          </a:solidFill>
                          <a:latin typeface="HSE Sans"/>
                        </a:rPr>
                        <a:t>rule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595959"/>
                          </a:solidFill>
                          <a:latin typeface="HSE Sans"/>
                        </a:rPr>
                        <a:t>0,50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595959"/>
                          </a:solidFill>
                          <a:latin typeface="HSE Sans"/>
                        </a:rPr>
                        <a:t>0,80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595959"/>
                          </a:solidFill>
                          <a:latin typeface="HSE Sans"/>
                        </a:rPr>
                        <a:t>0,26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595959"/>
                          </a:solidFill>
                          <a:latin typeface="HSE Sans"/>
                        </a:rPr>
                        <a:t>0,36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F2C68"/>
                          </a:solidFill>
                          <a:latin typeface="HSE Sans"/>
                        </a:rPr>
                        <a:t>hybrid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595959"/>
                          </a:solidFill>
                          <a:latin typeface="HSE Sans"/>
                        </a:rPr>
                        <a:t>0,65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595959"/>
                          </a:solidFill>
                          <a:latin typeface="HSE Sans"/>
                        </a:rPr>
                        <a:t>0,85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595959"/>
                          </a:solidFill>
                          <a:latin typeface="HSE Sans"/>
                        </a:rPr>
                        <a:t>0,38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595959"/>
                          </a:solidFill>
                          <a:latin typeface="HSE Sans"/>
                        </a:rPr>
                        <a:t>0,44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F2C68"/>
                          </a:solidFill>
                          <a:latin typeface="HSE Sans"/>
                        </a:rPr>
                        <a:t>bayesian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595959"/>
                          </a:solidFill>
                          <a:latin typeface="HSE Sans"/>
                        </a:rPr>
                        <a:t>0,65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595959"/>
                          </a:solidFill>
                          <a:latin typeface="HSE Sans"/>
                        </a:rPr>
                        <a:t>0,85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595959"/>
                          </a:solidFill>
                          <a:latin typeface="HSE Sans"/>
                        </a:rPr>
                        <a:t>0,38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595959"/>
                          </a:solidFill>
                          <a:latin typeface="HSE Sans"/>
                        </a:rPr>
                        <a:t>0,45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3886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F2C68"/>
                </a:solidFill>
                <a:latin typeface="HSE Sans"/>
              </a:rPr>
              <a:t>Оценка LLM-судьёй (шкала 1–5)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4297680"/>
          <a:ext cx="6400800" cy="1554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862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Алгоритм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Релевантность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Разнообразие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F2C68"/>
                          </a:solidFill>
                          <a:latin typeface="HSE Sans"/>
                        </a:rPr>
                        <a:t>rule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595959"/>
                          </a:solidFill>
                          <a:latin typeface="HSE Sans"/>
                        </a:rPr>
                        <a:t>4,33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595959"/>
                          </a:solidFill>
                          <a:latin typeface="HSE Sans"/>
                        </a:rPr>
                        <a:t>2,53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F2C68"/>
                          </a:solidFill>
                          <a:latin typeface="HSE Sans"/>
                        </a:rPr>
                        <a:t>hybrid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595959"/>
                          </a:solidFill>
                          <a:latin typeface="HSE Sans"/>
                        </a:rPr>
                        <a:t>4,40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595959"/>
                          </a:solidFill>
                          <a:latin typeface="HSE Sans"/>
                        </a:rPr>
                        <a:t>2,10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F2C68"/>
                          </a:solidFill>
                          <a:latin typeface="HSE Sans"/>
                        </a:rPr>
                        <a:t>bayesian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595959"/>
                          </a:solidFill>
                          <a:latin typeface="HSE Sans"/>
                        </a:rPr>
                        <a:t>4,40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595959"/>
                          </a:solidFill>
                          <a:latin typeface="HSE Sans"/>
                        </a:rPr>
                        <a:t>2,03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23760" y="4297680"/>
            <a:ext cx="44805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Гибрид превосходит базовое правило по Recall@5 (0,65 против 0,50) и nDCG@5 (0,38 против 0,26).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369 автотестов; оценка по воспроизводимым скриптам (seed=42).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ontent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_mon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182880"/>
            <a:ext cx="475488" cy="4754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46304"/>
            <a:ext cx="768096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800" b="1">
                <a:solidFill>
                  <a:srgbClr val="0F2C68"/>
                </a:solidFill>
                <a:latin typeface="HSE Sans"/>
              </a:rPr>
              <a:t>Разработка приложения для агрегации информации об IT-событиях и выдачи персональных рекомендаций на основе модели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146304"/>
            <a:ext cx="205740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>
                <a:solidFill>
                  <a:srgbClr val="595959"/>
                </a:solidFill>
                <a:latin typeface="HSE Sans"/>
              </a:rPr>
              <a:t>Защита курсовой,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146304"/>
            <a:ext cx="77724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50" b="1">
                <a:solidFill>
                  <a:srgbClr val="0F2C68"/>
                </a:solidFill>
                <a:latin typeface="HSE Sans"/>
              </a:rPr>
              <a:t>19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14400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0F2C68"/>
                </a:solidFill>
                <a:latin typeface="HSE Sans"/>
              </a:rPr>
              <a:t>Заключение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557784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550" b="0">
                <a:solidFill>
                  <a:srgbClr val="0F2C68"/>
                </a:solidFill>
                <a:latin typeface="HSE Sans"/>
              </a:rPr>
              <a:t>•  Все поставленные задачи выполнены.</a:t>
            </a:r>
          </a:p>
          <a:p>
            <a:pPr>
              <a:spcAft>
                <a:spcPts val="1200"/>
              </a:spcAft>
            </a:pPr>
            <a:r>
              <a:rPr sz="1550" b="0">
                <a:solidFill>
                  <a:srgbClr val="0F2C68"/>
                </a:solidFill>
                <a:latin typeface="HSE Sans"/>
              </a:rPr>
              <a:t>•  Собрана рабочая система: сервер, бот и планировщик вокруг общей базы данных (PostgreSQL + pgvector).</a:t>
            </a:r>
          </a:p>
          <a:p>
            <a:pPr>
              <a:spcAft>
                <a:spcPts val="1200"/>
              </a:spcAft>
            </a:pPr>
            <a:r>
              <a:rPr sz="1550" b="0">
                <a:solidFill>
                  <a:srgbClr val="0F2C68"/>
                </a:solidFill>
                <a:latin typeface="HSE Sans"/>
              </a:rPr>
              <a:t>•  Реализован гибридный рекомендатель из 9 компонент с объяснением выбора.</a:t>
            </a:r>
          </a:p>
          <a:p>
            <a:pPr>
              <a:spcAft>
                <a:spcPts val="1200"/>
              </a:spcAft>
            </a:pPr>
            <a:r>
              <a:rPr sz="1550" b="0">
                <a:solidFill>
                  <a:srgbClr val="0F2C68"/>
                </a:solidFill>
                <a:latin typeface="HSE Sans"/>
              </a:rPr>
              <a:t>•  Сбор из 6 источников с автоматической нормализацией и дедупликацией.</a:t>
            </a:r>
          </a:p>
          <a:p>
            <a:pPr>
              <a:spcAft>
                <a:spcPts val="1200"/>
              </a:spcAft>
            </a:pPr>
            <a:r>
              <a:rPr sz="1550" b="0">
                <a:solidFill>
                  <a:srgbClr val="0F2C68"/>
                </a:solidFill>
                <a:latin typeface="HSE Sans"/>
              </a:rPr>
              <a:t>•  Качество подтверждено метриками и 369 тестами.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783080"/>
            <a:ext cx="5303520" cy="3291840"/>
          </a:xfrm>
          <a:prstGeom prst="rect">
            <a:avLst/>
          </a:prstGeom>
          <a:solidFill>
            <a:srgbClr val="FDEFE3"/>
          </a:solidFill>
          <a:ln w="9525">
            <a:solidFill>
              <a:srgbClr val="0F2C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101600" rIns="101600" bIns="101600" rtlCol="0" anchor="t"/>
          <a:lstStyle/>
          <a:p>
            <a:pPr algn="ctr"/>
            <a:r>
              <a:rPr sz="1500" b="1" dirty="0" err="1">
                <a:solidFill>
                  <a:srgbClr val="0F2C68"/>
                </a:solidFill>
                <a:latin typeface="HSE Sans"/>
              </a:rPr>
              <a:t>Направления</a:t>
            </a:r>
            <a:r>
              <a:rPr sz="1500" b="1" dirty="0">
                <a:solidFill>
                  <a:srgbClr val="0F2C68"/>
                </a:solidFill>
                <a:latin typeface="HSE Sans"/>
              </a:rPr>
              <a:t> </a:t>
            </a:r>
            <a:r>
              <a:rPr sz="1500" b="1" dirty="0" err="1">
                <a:solidFill>
                  <a:srgbClr val="0F2C68"/>
                </a:solidFill>
                <a:latin typeface="HSE Sans"/>
              </a:rPr>
              <a:t>развития</a:t>
            </a:r>
            <a:endParaRPr sz="1500" b="1" dirty="0">
              <a:solidFill>
                <a:srgbClr val="0F2C68"/>
              </a:solidFill>
              <a:latin typeface="HSE Sans"/>
            </a:endParaRPr>
          </a:p>
          <a:p>
            <a:pPr>
              <a:spcBef>
                <a:spcPts val="300"/>
              </a:spcBef>
            </a:pPr>
            <a:r>
              <a:rPr sz="1350" dirty="0">
                <a:solidFill>
                  <a:srgbClr val="595959"/>
                </a:solidFill>
                <a:latin typeface="HSE Sans"/>
              </a:rPr>
              <a:t>• </a:t>
            </a:r>
            <a:r>
              <a:rPr sz="1350" dirty="0" err="1">
                <a:solidFill>
                  <a:srgbClr val="595959"/>
                </a:solidFill>
                <a:latin typeface="HSE Sans"/>
              </a:rPr>
              <a:t>Расширение</a:t>
            </a:r>
            <a:r>
              <a:rPr sz="1350" dirty="0">
                <a:solidFill>
                  <a:srgbClr val="595959"/>
                </a:solidFill>
                <a:latin typeface="HSE Sans"/>
              </a:rPr>
              <a:t> </a:t>
            </a:r>
            <a:r>
              <a:rPr sz="1350" dirty="0" err="1">
                <a:solidFill>
                  <a:srgbClr val="595959"/>
                </a:solidFill>
                <a:latin typeface="HSE Sans"/>
              </a:rPr>
              <a:t>списка</a:t>
            </a:r>
            <a:r>
              <a:rPr sz="1350" dirty="0">
                <a:solidFill>
                  <a:srgbClr val="595959"/>
                </a:solidFill>
                <a:latin typeface="HSE Sans"/>
              </a:rPr>
              <a:t> </a:t>
            </a:r>
            <a:r>
              <a:rPr sz="1350" dirty="0" err="1">
                <a:solidFill>
                  <a:srgbClr val="595959"/>
                </a:solidFill>
                <a:latin typeface="HSE Sans"/>
              </a:rPr>
              <a:t>источников</a:t>
            </a:r>
            <a:r>
              <a:rPr sz="1350" dirty="0">
                <a:solidFill>
                  <a:srgbClr val="595959"/>
                </a:solidFill>
                <a:latin typeface="HSE Sans"/>
              </a:rPr>
              <a:t> </a:t>
            </a:r>
            <a:r>
              <a:rPr sz="1350" dirty="0" err="1">
                <a:solidFill>
                  <a:srgbClr val="595959"/>
                </a:solidFill>
                <a:latin typeface="HSE Sans"/>
              </a:rPr>
              <a:t>событий</a:t>
            </a:r>
            <a:endParaRPr sz="1350" dirty="0">
              <a:solidFill>
                <a:srgbClr val="595959"/>
              </a:solidFill>
              <a:latin typeface="HSE Sans"/>
            </a:endParaRPr>
          </a:p>
          <a:p>
            <a:pPr>
              <a:spcBef>
                <a:spcPts val="300"/>
              </a:spcBef>
            </a:pPr>
            <a:r>
              <a:rPr sz="1350" dirty="0">
                <a:solidFill>
                  <a:srgbClr val="595959"/>
                </a:solidFill>
                <a:latin typeface="HSE Sans"/>
              </a:rPr>
              <a:t>• </a:t>
            </a:r>
            <a:r>
              <a:rPr sz="1350" dirty="0" err="1">
                <a:solidFill>
                  <a:srgbClr val="595959"/>
                </a:solidFill>
                <a:latin typeface="HSE Sans"/>
              </a:rPr>
              <a:t>Включение</a:t>
            </a:r>
            <a:r>
              <a:rPr sz="1350" dirty="0">
                <a:solidFill>
                  <a:srgbClr val="595959"/>
                </a:solidFill>
                <a:latin typeface="HSE Sans"/>
              </a:rPr>
              <a:t> </a:t>
            </a:r>
            <a:r>
              <a:rPr sz="1350" dirty="0" err="1">
                <a:solidFill>
                  <a:srgbClr val="595959"/>
                </a:solidFill>
                <a:latin typeface="HSE Sans"/>
              </a:rPr>
              <a:t>коллаборативного</a:t>
            </a:r>
            <a:r>
              <a:rPr sz="1350" dirty="0">
                <a:solidFill>
                  <a:srgbClr val="595959"/>
                </a:solidFill>
                <a:latin typeface="HSE Sans"/>
              </a:rPr>
              <a:t> </a:t>
            </a:r>
            <a:r>
              <a:rPr sz="1350" dirty="0" err="1">
                <a:solidFill>
                  <a:srgbClr val="595959"/>
                </a:solidFill>
                <a:latin typeface="HSE Sans"/>
              </a:rPr>
              <a:t>сигнала</a:t>
            </a:r>
            <a:r>
              <a:rPr sz="1350" dirty="0">
                <a:solidFill>
                  <a:srgbClr val="595959"/>
                </a:solidFill>
                <a:latin typeface="HSE Sans"/>
              </a:rPr>
              <a:t> </a:t>
            </a:r>
            <a:r>
              <a:rPr sz="1350" dirty="0" err="1">
                <a:solidFill>
                  <a:srgbClr val="595959"/>
                </a:solidFill>
                <a:latin typeface="HSE Sans"/>
              </a:rPr>
              <a:t>на</a:t>
            </a:r>
            <a:r>
              <a:rPr sz="1350" dirty="0">
                <a:solidFill>
                  <a:srgbClr val="595959"/>
                </a:solidFill>
                <a:latin typeface="HSE Sans"/>
              </a:rPr>
              <a:t> </a:t>
            </a:r>
            <a:r>
              <a:rPr sz="1350" dirty="0" err="1">
                <a:solidFill>
                  <a:srgbClr val="595959"/>
                </a:solidFill>
                <a:latin typeface="HSE Sans"/>
              </a:rPr>
              <a:t>большем</a:t>
            </a:r>
            <a:r>
              <a:rPr sz="1350" dirty="0">
                <a:solidFill>
                  <a:srgbClr val="595959"/>
                </a:solidFill>
                <a:latin typeface="HSE Sans"/>
              </a:rPr>
              <a:t> </a:t>
            </a:r>
            <a:r>
              <a:rPr sz="1350" dirty="0" err="1">
                <a:solidFill>
                  <a:srgbClr val="595959"/>
                </a:solidFill>
                <a:latin typeface="HSE Sans"/>
              </a:rPr>
              <a:t>наборе</a:t>
            </a:r>
            <a:r>
              <a:rPr sz="1350" dirty="0">
                <a:solidFill>
                  <a:srgbClr val="595959"/>
                </a:solidFill>
                <a:latin typeface="HSE Sans"/>
              </a:rPr>
              <a:t> </a:t>
            </a:r>
            <a:r>
              <a:rPr sz="1350" dirty="0" err="1">
                <a:solidFill>
                  <a:srgbClr val="595959"/>
                </a:solidFill>
                <a:latin typeface="HSE Sans"/>
              </a:rPr>
              <a:t>данных</a:t>
            </a:r>
            <a:endParaRPr sz="1350" dirty="0">
              <a:solidFill>
                <a:srgbClr val="595959"/>
              </a:solidFill>
              <a:latin typeface="HSE Sans"/>
            </a:endParaRPr>
          </a:p>
          <a:p>
            <a:pPr>
              <a:spcBef>
                <a:spcPts val="300"/>
              </a:spcBef>
            </a:pPr>
            <a:r>
              <a:rPr sz="1350" dirty="0">
                <a:solidFill>
                  <a:srgbClr val="595959"/>
                </a:solidFill>
                <a:latin typeface="HSE Sans"/>
              </a:rPr>
              <a:t>• </a:t>
            </a:r>
            <a:r>
              <a:rPr sz="1350" dirty="0" err="1">
                <a:solidFill>
                  <a:srgbClr val="595959"/>
                </a:solidFill>
                <a:latin typeface="HSE Sans"/>
              </a:rPr>
              <a:t>Расширение</a:t>
            </a:r>
            <a:r>
              <a:rPr sz="1350" dirty="0">
                <a:solidFill>
                  <a:srgbClr val="595959"/>
                </a:solidFill>
                <a:latin typeface="HSE Sans"/>
              </a:rPr>
              <a:t> </a:t>
            </a:r>
            <a:r>
              <a:rPr sz="1350" dirty="0" err="1">
                <a:solidFill>
                  <a:srgbClr val="595959"/>
                </a:solidFill>
                <a:latin typeface="HSE Sans"/>
              </a:rPr>
              <a:t>пользовательских</a:t>
            </a:r>
            <a:r>
              <a:rPr sz="1350" dirty="0">
                <a:solidFill>
                  <a:srgbClr val="595959"/>
                </a:solidFill>
                <a:latin typeface="HSE Sans"/>
              </a:rPr>
              <a:t> </a:t>
            </a:r>
            <a:r>
              <a:rPr sz="1350" dirty="0" err="1">
                <a:solidFill>
                  <a:srgbClr val="595959"/>
                </a:solidFill>
                <a:latin typeface="HSE Sans"/>
              </a:rPr>
              <a:t>сценариев</a:t>
            </a:r>
            <a:r>
              <a:rPr sz="1350" dirty="0">
                <a:solidFill>
                  <a:srgbClr val="595959"/>
                </a:solidFill>
                <a:latin typeface="HSE Sans"/>
              </a:rPr>
              <a:t> </a:t>
            </a:r>
            <a:r>
              <a:rPr sz="1350" dirty="0" err="1">
                <a:solidFill>
                  <a:srgbClr val="595959"/>
                </a:solidFill>
                <a:latin typeface="HSE Sans"/>
              </a:rPr>
              <a:t>бота</a:t>
            </a:r>
            <a:endParaRPr sz="1350" dirty="0">
              <a:solidFill>
                <a:srgbClr val="595959"/>
              </a:solidFill>
              <a:latin typeface="HSE Sans"/>
            </a:endParaRPr>
          </a:p>
          <a:p>
            <a:pPr>
              <a:spcBef>
                <a:spcPts val="300"/>
              </a:spcBef>
            </a:pPr>
            <a:r>
              <a:rPr sz="1350" dirty="0">
                <a:solidFill>
                  <a:srgbClr val="595959"/>
                </a:solidFill>
                <a:latin typeface="HSE Sans"/>
              </a:rPr>
              <a:t>• </a:t>
            </a:r>
            <a:r>
              <a:rPr sz="1350" dirty="0" err="1">
                <a:solidFill>
                  <a:srgbClr val="595959"/>
                </a:solidFill>
                <a:latin typeface="HSE Sans"/>
              </a:rPr>
              <a:t>Сравнительное</a:t>
            </a:r>
            <a:r>
              <a:rPr sz="1350" dirty="0">
                <a:solidFill>
                  <a:srgbClr val="595959"/>
                </a:solidFill>
                <a:latin typeface="HSE Sans"/>
              </a:rPr>
              <a:t> </a:t>
            </a:r>
            <a:r>
              <a:rPr sz="1350" dirty="0" err="1">
                <a:solidFill>
                  <a:srgbClr val="595959"/>
                </a:solidFill>
                <a:latin typeface="HSE Sans"/>
              </a:rPr>
              <a:t>тестирование</a:t>
            </a:r>
            <a:r>
              <a:rPr sz="1350" dirty="0">
                <a:solidFill>
                  <a:srgbClr val="595959"/>
                </a:solidFill>
                <a:latin typeface="HSE Sans"/>
              </a:rPr>
              <a:t> </a:t>
            </a:r>
            <a:r>
              <a:rPr sz="1350" dirty="0" err="1">
                <a:solidFill>
                  <a:srgbClr val="595959"/>
                </a:solidFill>
                <a:latin typeface="HSE Sans"/>
              </a:rPr>
              <a:t>весов</a:t>
            </a:r>
            <a:r>
              <a:rPr sz="1350" dirty="0">
                <a:solidFill>
                  <a:srgbClr val="595959"/>
                </a:solidFill>
                <a:latin typeface="HSE Sans"/>
              </a:rPr>
              <a:t> </a:t>
            </a:r>
            <a:r>
              <a:rPr sz="1350" dirty="0" err="1">
                <a:solidFill>
                  <a:srgbClr val="595959"/>
                </a:solidFill>
                <a:latin typeface="HSE Sans"/>
              </a:rPr>
              <a:t>рекомендатора</a:t>
            </a:r>
            <a:endParaRPr lang="ru-RU" sz="1350" dirty="0">
              <a:solidFill>
                <a:srgbClr val="595959"/>
              </a:solidFill>
              <a:latin typeface="HSE Sans"/>
            </a:endParaRPr>
          </a:p>
          <a:p>
            <a:pPr>
              <a:spcBef>
                <a:spcPts val="300"/>
              </a:spcBef>
            </a:pPr>
            <a:r>
              <a:rPr lang="ru-RU" sz="1350" dirty="0">
                <a:solidFill>
                  <a:srgbClr val="595959"/>
                </a:solidFill>
                <a:latin typeface="HSE Sans"/>
              </a:rPr>
              <a:t>• </a:t>
            </a:r>
            <a:r>
              <a:rPr lang="ru-RU" sz="1350" dirty="0">
                <a:solidFill>
                  <a:srgbClr val="595959"/>
                </a:solidFill>
              </a:rPr>
              <a:t>Расширение интерфейсов для пользователей</a:t>
            </a:r>
            <a:endParaRPr sz="1350" dirty="0">
              <a:solidFill>
                <a:srgbClr val="595959"/>
              </a:solidFill>
              <a:latin typeface="HSE Sans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ontent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_mon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182880"/>
            <a:ext cx="475488" cy="4754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46304"/>
            <a:ext cx="768096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800" b="1">
                <a:solidFill>
                  <a:srgbClr val="0F2C68"/>
                </a:solidFill>
                <a:latin typeface="HSE Sans"/>
              </a:rPr>
              <a:t>Разработка приложения для агрегации информации об IT-событиях и выдачи персональных рекомендаций на основе модели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146304"/>
            <a:ext cx="205740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>
                <a:solidFill>
                  <a:srgbClr val="595959"/>
                </a:solidFill>
                <a:latin typeface="HSE Sans"/>
              </a:rPr>
              <a:t>Защита курсовой,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146304"/>
            <a:ext cx="77724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50" b="1">
                <a:solidFill>
                  <a:srgbClr val="0F2C68"/>
                </a:solidFill>
                <a:latin typeface="HSE Sans"/>
              </a:rPr>
              <a:t>20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1554480" y="2286000"/>
            <a:ext cx="9052560" cy="2011680"/>
          </a:xfrm>
          <a:prstGeom prst="rect">
            <a:avLst/>
          </a:prstGeom>
          <a:solidFill>
            <a:srgbClr val="0F2C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4000" b="1">
                <a:solidFill>
                  <a:srgbClr val="FFFFFF"/>
                </a:solidFill>
                <a:latin typeface="HSE Sans"/>
              </a:rPr>
              <a:t>Благодарю за внимание!</a:t>
            </a:r>
          </a:p>
          <a:p>
            <a:pPr algn="ctr"/>
            <a:r>
              <a:rPr sz="2000">
                <a:solidFill>
                  <a:srgbClr val="CFDAEE"/>
                </a:solidFill>
                <a:latin typeface="HSE Sans"/>
              </a:rPr>
              <a:t>Готов ответить на ваши вопросы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4663440"/>
            <a:ext cx="9052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F2C68"/>
                </a:solidFill>
                <a:latin typeface="HSE Sans"/>
              </a:rPr>
              <a:t>Белов Егор Александрович</a:t>
            </a:r>
          </a:p>
          <a:p>
            <a:pPr algn="ctr"/>
            <a:r>
              <a:rPr sz="1400">
                <a:solidFill>
                  <a:srgbClr val="595959"/>
                </a:solidFill>
                <a:latin typeface="HSE Sans"/>
              </a:rPr>
              <a:t>НИУ ВШЭ — Пермь · «Бизнес-аналитика»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258</TotalTime>
  <Words>1579</Words>
  <Application>Microsoft Macintosh PowerPoint</Application>
  <PresentationFormat>Широкоэкранный</PresentationFormat>
  <Paragraphs>287</Paragraphs>
  <Slides>20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20</vt:i4>
      </vt:variant>
    </vt:vector>
  </HeadingPairs>
  <TitlesOfParts>
    <vt:vector size="24" baseType="lpstr">
      <vt:lpstr>Arial</vt:lpstr>
      <vt:lpstr>Calibri</vt:lpstr>
      <vt:lpstr>HSE Sans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keywords/>
  <dc:description>generated using python-pptx</dc:description>
  <cp:lastModifiedBy>Белов Егор Александрович</cp:lastModifiedBy>
  <cp:revision>3</cp:revision>
  <dcterms:created xsi:type="dcterms:W3CDTF">2013-01-27T09:14:16Z</dcterms:created>
  <dcterms:modified xsi:type="dcterms:W3CDTF">2026-06-24T07:34:39Z</dcterms:modified>
  <cp:category/>
</cp:coreProperties>
</file>