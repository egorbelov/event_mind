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11"/>
    <p:sldId id="285" r:id="rId10"/>
    <p:sldId id="286" r:id="rId9"/>
    <p:sldId id="287" r:id="rId8"/>
    <p:sldId id="288" r:id="rId7"/>
    <p:sldId id="289" r:id="rId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46"/>
    <a:srgbClr val="029C63"/>
    <a:srgbClr val="96628C"/>
    <a:srgbClr val="11A0D7"/>
    <a:srgbClr val="E61F3D"/>
    <a:srgbClr val="CD5A5A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81404" autoAdjust="0"/>
  </p:normalViewPr>
  <p:slideViewPr>
    <p:cSldViewPr snapToGrid="0" snapToObjects="1">
      <p:cViewPr varScale="1">
        <p:scale>
          <a:sx n="93" d="100"/>
          <a:sy n="93" d="100"/>
        </p:scale>
        <p:origin x="1554" y="8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06/05/2025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уважаемая комиссия, тема моей работы Разработка приложения для распознавания и поиска объектов на видеоизображении в социальных сетях, научный руководитель Замятина Елена Борисовна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233094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9616" y="258680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747573" y="189688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684653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255590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328930"/>
            <a:ext cx="9366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</a:t>
            </a:r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19</a:t>
            </a: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243698"/>
            <a:ext cx="2470764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Разработка приложения для распознавания и поиска объектов на видеоизображении в социальных сетях</a:t>
            </a: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6586" y="234170"/>
            <a:ext cx="102971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Белов Егор</a:t>
            </a: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393" y="243698"/>
            <a:ext cx="1130122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Защита ВКР</a:t>
            </a:r>
          </a:p>
          <a:p>
            <a:r>
              <a:rPr lang="ru-RU" sz="1000" dirty="0">
                <a:latin typeface="HSE Sans" panose="02000000000000000000" pitchFamily="2" charset="0"/>
              </a:rPr>
              <a:t>Пермь</a:t>
            </a:r>
          </a:p>
          <a:p>
            <a:r>
              <a:rPr lang="ru-RU" sz="1000" dirty="0">
                <a:latin typeface="HSE Sans" panose="02000000000000000000" pitchFamily="2" charset="0"/>
              </a:rPr>
              <a:t>06.06.2025</a:t>
            </a: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94498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26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10104631" cy="1978323"/>
          </a:xfrm>
        </p:spPr>
        <p:txBody>
          <a:bodyPr wrap="square">
            <a:normAutofit fontScale="90000"/>
          </a:bodyPr>
          <a:lstStyle/>
          <a:p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sz="26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br>
              <a:rPr lang="ru-RU" dirty="0"/>
            </a:br>
            <a:r>
              <a:rPr sz="1400">
                <a:latin typeface="HSE Sans"/>
              </a:rPr>
              <a:t>Пермь</a:t>
            </a:r>
            <a:endParaRPr lang="ru-RU" dirty="0"/>
          </a:p>
          <a:p>
            <a:r>
              <a:rPr sz="1400">
                <a:latin typeface="HSE Sans"/>
              </a:rPr>
              <a:t>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14690F36-FB51-4F4B-99B0-413E412326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7967" y="4471732"/>
            <a:ext cx="5434244" cy="654050"/>
          </a:xfrm>
        </p:spPr>
        <p:txBody>
          <a:bodyPr wrap="square">
            <a:normAutofit/>
          </a:bodyPr>
          <a:lstStyle/>
          <a:p>
            <a:r>
              <a:rPr sz="1800">
                <a:latin typeface="HSE Sans"/>
              </a:rPr>
              <a:t>Работу выполнил студент: </a:t>
            </a:r>
            <a:r>
              <a:rPr sz="1800" b="1">
                <a:latin typeface="HSE Sans"/>
              </a:rPr>
              <a:t>Белов Е.А.</a:t>
            </a:r>
            <a:endParaRPr lang="ru-RU" sz="210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4FCE93C6-82A9-45CB-9F11-05B8D054F948}"/>
              </a:ext>
            </a:extLst>
          </p:cNvPr>
          <p:cNvSpPr txBox="1">
            <a:spLocks/>
          </p:cNvSpPr>
          <p:nvPr/>
        </p:nvSpPr>
        <p:spPr>
          <a:xfrm>
            <a:off x="7191909" y="4408043"/>
            <a:ext cx="4119937" cy="1407129"/>
          </a:xfrm>
          <a:prstGeom prst="rect">
            <a:avLst/>
          </a:prstGeom>
        </p:spPr>
        <p:txBody>
          <a:bodyPr vert="horz" lIns="0" tIns="0" rIns="0" bIns="0" rtlCol="0"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>
                <a:latin typeface="HSE Sans"/>
              </a:rPr>
              <a:t>Руководитель:</a:t>
            </a:r>
            <a:endParaRPr lang="ru-RU" sz="2000" dirty="0"/>
          </a:p>
          <a:p>
            <a:r>
              <a:rPr sz="1400"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400" b="1">
                <a:latin typeface="HSE Sans"/>
              </a:rPr>
              <a:t>Городилов А.Ю.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93AC612D-B865-4650-A821-BE0DF0BD17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98695"/>
            <a:ext cx="2278063" cy="463186"/>
          </a:xfrm>
        </p:spPr>
        <p:txBody>
          <a:bodyPr wrap="square"/>
          <a:lstStyle/>
          <a:p>
            <a:r>
              <a:rPr sz="1200">
                <a:latin typeface="HSE Sans"/>
              </a:rPr>
              <a:t>«Бизнес-аналитика»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62F2909-31F3-4434-BB7F-534E5BFDC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74947" y="1187841"/>
            <a:ext cx="3848717" cy="435163"/>
          </a:xfrm>
        </p:spPr>
        <p:txBody>
          <a:bodyPr wrap="square"/>
          <a:lstStyle/>
          <a:p>
            <a:r>
              <a:rPr sz="1600">
                <a:latin typeface="HSE Sans"/>
              </a:rPr>
              <a:t>Факультет магистерская школа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вебинары,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сайтам, агрегаторам и Telegram-каналам — нет единой точки входа.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Отфильтровать релевантное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Классические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спрос на персонализацию: лента «под меня», а не общий список.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783080"/>
            <a:ext cx="4206240" cy="13258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Релевантные IT-события теряются в информационном шуме десятков источников.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91840"/>
            <a:ext cx="4206240" cy="14173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Один Telegram-бот собирает события из 6 источников и строит ленту по 9 признакам с объяснением «почему именно это».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4892040"/>
            <a:ext cx="4206240" cy="132588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Отличие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Учитываем не только темы, но и карьерную цель и историю реакций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5303520" cy="29260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03520" cy="292608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мультиагентного AI-копилота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29200" cy="30175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55448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Анализ предметной области и подходов к рекомендациям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Проектирование архитектуры (API, бот, планировщик)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Сбор и AI-нормализация событий из 6 источников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Реализация гибридного рекомендатора (9 компонент)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Разработка Telegram-интерфейса и AI-копилота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D7D31"/>
                </a:solidFill>
                <a:latin typeface="HSE Sans"/>
              </a:rPr>
              <a:t>Задачи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Oval 4"/>
          <p:cNvSpPr/>
          <p:nvPr/>
        </p:nvSpPr>
        <p:spPr>
          <a:xfrm>
            <a:off x="4041648" y="27889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Фрагментированность источников событий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8" name="Oval 7"/>
          <p:cNvSpPr/>
          <p:nvPr/>
        </p:nvSpPr>
        <p:spPr>
          <a:xfrm>
            <a:off x="4480560" y="5029200"/>
            <a:ext cx="324612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персонализации под уровень и цель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657600"/>
                <a:gridCol w="2788920"/>
                <a:gridCol w="2560320"/>
              </a:tblGrid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EventMind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Контентный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Базовый rule + cosine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серендипити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(embeddings)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Гибрид объединяет сильные стороны подходов и снимает холодный старт — выбран основным алгоритмом.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6" name="Picture 5" descr="01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03" y="1691640"/>
            <a:ext cx="2045912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20240"/>
            <a:ext cx="5669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Настройка профиля: интересы, уровень, формат, город, цель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Просмотр персональной ленты рекомендаций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Обратная связь: 👍 / 👎 / ⭐ — лента адаптируется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Объяснение «❓ Почему» и «📖 Подробнее» по событию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Семантический поиск событий обычным языком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Диалог с AI-копилотом: план развития под цель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6" name="Picture 5" descr="02_business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45" y="1691640"/>
            <a:ext cx="1089242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Архитектура системы</a:t>
            </a:r>
          </a:p>
        </p:txBody>
      </p:sp>
      <p:pic>
        <p:nvPicPr>
          <p:cNvPr id="6" name="Picture 5" descr="03_c4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10" y="1691640"/>
            <a:ext cx="4525939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API — REST на FastAPI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Bot — Telegram (aiogram 3)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Scheduler — фоновые джобы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Общая БД: PostgreSQL + pgvector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LLM-провайдеры (Gemini, Groq)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Три независимых процесса вокруг общей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Модульная схема на уровне контейнеров (C4).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Модель данных</a:t>
            </a:r>
          </a:p>
        </p:txBody>
      </p:sp>
      <p:pic>
        <p:nvPicPr>
          <p:cNvPr id="6" name="Picture 5" descr="04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9368"/>
            <a:ext cx="11064240" cy="33137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Пользователи, события, взаимодействия, embedding'и, состояние бандита и долговременная память.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Выбор средств реализации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4663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931920"/>
                <a:gridCol w="4892040"/>
              </a:tblGrid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Язык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Весь стек: API, бот,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API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REST-слой, OpenAPI на /docs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Бот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aiogram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Telegram-интерфейс, FSM, роутеры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БД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PostgreSQL + pgvector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Данные + семантический поиск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ORM / миграции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SQLAlchemy 2.0 + Alembic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Модели и версии схемы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sentence-transformers (MiniLM)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384-мерные векторы, рус.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AI-агенты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LangGraph +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Supervisor-Worker граф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LLM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Gemini → Groq 70b → Groq 8b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Нормализация, объяснения, копилот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Планировщик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APScheduler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Дайджест, ingestion, backfill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3200400"/>
                <a:gridCol w="3291840"/>
              </a:tblGrid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rule-based,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content-based, embeddings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exp-decay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goal-aware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LinUCB contextual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LightGCN 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конфигом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MMR-rerank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Series anti-flood: один выпуск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в try/except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TTL-кэш выдачи 15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Как строится рекомендация</a:t>
            </a:r>
          </a:p>
        </p:txBody>
      </p:sp>
      <p:pic>
        <p:nvPicPr>
          <p:cNvPr id="6" name="Picture 5" descr="05_sequence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940" y="1691640"/>
            <a:ext cx="695563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GET /recommendations → hybrid отбирает top-N → один LLM-вызов пишет объяснения батчем (RAG, без галлюцинаций).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6" name="Picture 5" descr="06_activity_norm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167" y="1691640"/>
            <a:ext cx="233790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8308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source → raw_events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AI-нормализация + Pydantic-валидация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Строгая enum- и ISO-date 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pgvector-дедуп (cosine ≥ 0.92)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Батчевая нормализация с адаптивным размером чанка.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AI-копилот: Supervisor-Worker</a:t>
            </a:r>
          </a:p>
        </p:txBody>
      </p:sp>
      <p:pic>
        <p:nvPicPr>
          <p:cNvPr id="6" name="Picture 5" descr="07_copilo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94" y="1691640"/>
            <a:ext cx="657497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Граф LangGraph: retrieve → supervisor → specialist → finalize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5 специалистов: recommendation, career_coach, roadmap, explainer, summary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function-calling tools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Мульти-туровый диалог + long-term память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Явный, тестируемый граф — не «магия»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LLM-цепочка и надёжность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1.  Gemini — primary (REST-транспорт, автопроба модели)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2.  Groq llama-3.3-70b — fallback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3.  Groq llama-3.1-8b — last-resort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/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Circuit-breaker: 5 фейлов подряд → cooldown 120 с.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Per-provider cooldown: 2 фейла → skip на 10 мин.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Три уровня graceful-degradation: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hybrid → rule-only выдача при сбое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Copilot → сохранение сессии, «AI временно недоступен»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X-API-Key shared-secret + request-логирование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Prompt-injection sanitize пользовательского ввода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Read-only hot-path + TTL-кэш рекомендаций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548640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188720"/>
                <a:gridCol w="1005840"/>
              </a:tblGrid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Метрика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k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bayes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Leave-one-out (Recall@k / nDCG@k)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12064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1463040"/>
                <a:gridCol w="1463040"/>
              </a:tblGrid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relevance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LLM-судья (оценка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Гибрид превосходит rule-only по Recall@5 (0,65 против 0,50) и nDCG@5 (0,38 против 0,26).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369 автотестов в tests/ (scoring, bayesian, bandit, gnn, memory, ingestion, copilot, security).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Воспроизводимые скрипты оценки с фиксированным seed=42.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API + бот + планировщик вокруг общей БД (PostgreSQL + pgvector).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объяснениями и AI-копилот на LangGraph.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AI-нормализацией и дедупом.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ED7D31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Включение GNN-сигнала на большем датасете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Переработка UX AI-копилота в боте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A/B-тестирование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246888"/>
            <a:ext cx="2743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4688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24688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103120"/>
            <a:ext cx="923544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Бизнес-аналитика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Проект: EventMind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2773</Words>
  <Application>Microsoft Office PowerPoint</Application>
  <PresentationFormat>Широкоэкранный</PresentationFormat>
  <Paragraphs>374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Apple Color Emoji</vt:lpstr>
      <vt:lpstr>Arial</vt:lpstr>
      <vt:lpstr>Calibri</vt:lpstr>
      <vt:lpstr>Calibri Light</vt:lpstr>
      <vt:lpstr>HSE Sans</vt:lpstr>
      <vt:lpstr>Times New Roman</vt:lpstr>
      <vt:lpstr>Office Theme</vt:lpstr>
      <vt:lpstr>Разработка приложения для распознавания и поиска объектов на видеоизображении в социальных сетях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Диаграмма вариантов использования системы</vt:lpstr>
      <vt:lpstr>Схема взаимодействия пользователя и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Веб интерфейс</vt:lpstr>
      <vt:lpstr>Телеграмм-бот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Белов Егор Александрович</cp:lastModifiedBy>
  <cp:revision>98</cp:revision>
  <cp:lastPrinted>2021-11-11T13:08:42Z</cp:lastPrinted>
  <dcterms:created xsi:type="dcterms:W3CDTF">2021-11-11T08:52:47Z</dcterms:created>
  <dcterms:modified xsi:type="dcterms:W3CDTF">2025-06-05T17:30:29Z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