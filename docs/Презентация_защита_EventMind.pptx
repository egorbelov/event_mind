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721"/>
  </p:normalViewPr>
  <p:slideViewPr>
    <p:cSldViewPr snapToGrid="0" snapToObjects="1">
      <p:cViewPr varScale="1">
        <p:scale>
          <a:sx n="90" d="100"/>
          <a:sy n="90" d="100"/>
        </p:scale>
        <p:origin x="232" y="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6012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57400" y="960120"/>
            <a:ext cx="4206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HSE Sans"/>
              </a:rPr>
              <a:t>Национальный исследовательский университет</a:t>
            </a:r>
          </a:p>
          <a:p>
            <a:r>
              <a:rPr sz="1200" b="1">
                <a:solidFill>
                  <a:srgbClr val="0F2C68"/>
                </a:solidFill>
                <a:latin typeface="HSE Sans"/>
              </a:rPr>
              <a:t>«Высшая школа экономики» — Пермь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960120"/>
            <a:ext cx="2743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HSE Sans"/>
              </a:rPr>
              <a:t>Магистерская программа</a:t>
            </a:r>
          </a:p>
          <a:p>
            <a:r>
              <a:rPr sz="1200" b="1">
                <a:solidFill>
                  <a:srgbClr val="0F2C68"/>
                </a:solidFill>
                <a:latin typeface="HSE Sans"/>
              </a:rPr>
              <a:t>«Бизнес-аналитика»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960120"/>
            <a:ext cx="1554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3327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>
                <a:solidFill>
                  <a:srgbClr val="595959"/>
                </a:solidFill>
                <a:latin typeface="HSE Sans"/>
              </a:rPr>
              <a:t>Работу выполнил студент:</a:t>
            </a:r>
          </a:p>
          <a:p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57200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>
                <a:solidFill>
                  <a:srgbClr val="595959"/>
                </a:solidFill>
                <a:latin typeface="HSE Sans"/>
              </a:rPr>
              <a:t>Научный руководитель:</a:t>
            </a:r>
          </a:p>
          <a:p>
            <a:r>
              <a:rPr sz="1200">
                <a:solidFill>
                  <a:srgbClr val="595959"/>
                </a:solidFill>
                <a:latin typeface="HSE Sans"/>
              </a:rPr>
              <a:t>Доцент кафедры информационных технологий в бизнесе</a:t>
            </a:r>
          </a:p>
          <a:p>
            <a:r>
              <a:rPr sz="1600" b="1">
                <a:solidFill>
                  <a:srgbClr val="0F2C68"/>
                </a:solidFill>
                <a:latin typeface="HSE Sans"/>
              </a:rPr>
              <a:t>Городилов А.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 и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множеству сайтов, агрегаторов и каналов — единой точки входа нет.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Отобрать подходящее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Обычные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запрос на персонализацию: лента «под меня», а не общий список.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920240"/>
            <a:ext cx="4206240" cy="182880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Подходящие IT-события теряются в потоке анонсов из множества источников, а их отбор остаётся ручным.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069080"/>
            <a:ext cx="4206240" cy="21031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Автоматический сбор событий и персональная лента с понятным объяснением выбора, учитывающая интересы и цель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303520" cy="274320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Объект исследования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Процессы агрегации информации об IT-мероприятиях и построения персонализированных рекомендаций для пользователей.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303520" cy="274320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Предмет исследования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Программная система, объединяющая сбор и нормализацию событий, гибридный рекомендатель и пользовательский интерфейс вокруг общей базы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0292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Цель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Разработать систему, которая автоматически собирает анонсы IT-мероприятий из множества источников, нормализует их и строит для каждого пользователя персональную ленту рекомендаций с понятным объяснением выбора.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2C68"/>
                </a:solidFill>
                <a:latin typeface="HSE Sans"/>
              </a:rPr>
              <a:t>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Анализ предметной области и существующих решений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Анализ подходов к построению рекомендаций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Проектирование архитектуры системы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 автоматическая нормализация событий из разных источников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Реализация гибридного алгоритма рекомендаций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Разработка пользовательского интерфейса и обратной связи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Тестирование и оценка качества рекомендаций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Проблемы предметной области</a:t>
            </a:r>
          </a:p>
        </p:txBody>
      </p:sp>
      <p:sp>
        <p:nvSpPr>
          <p:cNvPr id="8" name="Oval 7"/>
          <p:cNvSpPr/>
          <p:nvPr/>
        </p:nvSpPr>
        <p:spPr>
          <a:xfrm>
            <a:off x="4041648" y="324612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2880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Разрозненность источников событий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754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11" name="Oval 10"/>
          <p:cNvSpPr/>
          <p:nvPr/>
        </p:nvSpPr>
        <p:spPr>
          <a:xfrm>
            <a:off x="4480560" y="5440680"/>
            <a:ext cx="3246120" cy="128016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учёта уровня и карьерной цели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0" y="182880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3" name="Oval 12"/>
          <p:cNvSpPr/>
          <p:nvPr/>
        </p:nvSpPr>
        <p:spPr>
          <a:xfrm>
            <a:off x="8275320" y="4754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Анализ существующих решений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11201399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Решение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Сильные стороны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Ограничения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Универсальные площадки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(Timepad, Meetup, Eventbrite)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Фильтры по категориям, городам и датам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 специализированы на IT, не учитывают поведение пользователя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Тематические IT-площадки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(Habr Events)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Релевантный контент по теме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Нет модели интересов и регулярных персональных подборок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Профессиональные сети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(LinkedIn Events)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Связь с профессиональным профилем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Фокус на карьерных событиях, мало митапов и конференций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Каналы сообществ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(Telegram)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Оперативные анонсы из первых рук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Нет организованного поиска и персонализации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Разрабатываемая система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Агрегация из источников, учёт реакций, объяснимые рекомендации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Снимает разрозненность, добавляет персонализацию и дайджест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Ни одно из решений не объединяет агрегацию из разных источников, учёт неявной обратной связи и объяснимость.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37360"/>
          <a:ext cx="11201400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314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системе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По содержанию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(rule + cosine)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Базовые правила + близость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неожиданные находки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(эмбеддинги)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Баланс новизны и точности, онлайн-адаптация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гибрида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Долговременная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память (mem0)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Запоминает цели и интересы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LLM, риск устаревания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Семантический поиск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8" name="Picture 7" descr="01_use_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4554" y="1645920"/>
            <a:ext cx="4294730" cy="4754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828800"/>
            <a:ext cx="4023360" cy="21031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Пользователь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595959"/>
                </a:solidFill>
                <a:latin typeface="HSE Sans"/>
              </a:rPr>
              <a:t>Настройка профиля, персональная лента, объяснения, оценки и сохранения, поиск обычным языком, дайджест.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114800"/>
            <a:ext cx="4023360" cy="173736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Администратор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595959"/>
                </a:solidFill>
                <a:latin typeface="HSE Sans"/>
              </a:rPr>
              <a:t>Загрузка событий из источников и просмотр аналитики по системе.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8" name="Picture 7" descr="02_business_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63" y="1691640"/>
            <a:ext cx="10576192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серверная часть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m85p2vo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2866" y="1691640"/>
            <a:ext cx="5627947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«серверная часть».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11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Telegram-бот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b7fwq1j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690" y="1691640"/>
            <a:ext cx="5454298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«Telegram-бот».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планировщик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muntr2k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903016"/>
            <a:ext cx="5760719" cy="41035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«планировщик».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921168"/>
            <a:ext cx="2160270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0F2C68"/>
                </a:solidFill>
                <a:latin typeface="HSE Sans"/>
              </a:rPr>
              <a:t>Модель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данных</a:t>
            </a:r>
            <a:endParaRPr sz="3000" b="1" dirty="0">
              <a:solidFill>
                <a:srgbClr val="0F2C68"/>
              </a:solidFill>
              <a:latin typeface="HSE Sans"/>
            </a:endParaRPr>
          </a:p>
        </p:txBody>
      </p:sp>
      <p:pic>
        <p:nvPicPr>
          <p:cNvPr id="8" name="Picture 7" descr="04_er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557784"/>
            <a:ext cx="6652260" cy="5742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Связи проведены от ключа к ключу (PK → FK): пользователи, события, взаимодействия, векторы, состояние бандита и память.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9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по правилам,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по содержанию, 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оценка LLM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оценка LLM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затухание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учёт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цели пользователя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контекстный LinUCB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новизны и точности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LightGCN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конфигурацией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Переранжирование MMR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Антиповтор серий: один выпуск из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изолирована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Кэш выдачи на 15 минут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32818"/>
            <a:ext cx="2697480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0F2C68"/>
                </a:solidFill>
                <a:latin typeface="HSE Sans"/>
              </a:rPr>
              <a:t>Как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строится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рекомендация</a:t>
            </a:r>
            <a:endParaRPr sz="3000" b="1" dirty="0">
              <a:solidFill>
                <a:srgbClr val="0F2C68"/>
              </a:solidFill>
              <a:latin typeface="HSE Sans"/>
            </a:endParaRPr>
          </a:p>
        </p:txBody>
      </p:sp>
      <p:pic>
        <p:nvPicPr>
          <p:cNvPr id="8" name="Picture 7" descr="05_sequence_recomm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1" y="749468"/>
            <a:ext cx="8389210" cy="53823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Запрос ленты → гибрид отбирает top-N → один вызов LLM пишет объяснения пакетом (по найденным фактам, без выдумок).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8" name="Picture 7" descr="06_activity_normaliz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979081"/>
            <a:ext cx="11430000" cy="22597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663440"/>
            <a:ext cx="5394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Сырьё → таблица raw_events → нормализация через LLM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Проверка типов и дат (Pydantic)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5120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Поиск дубликатов по вектору (pgvector, cosine ≥ 0.92)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Пакетная нормализация с адаптивным размером порции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Цепочка LLM и надёжность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86400" cy="33832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1.  Gemini — основной (транспорт REST, автоподбор модели)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2.  Groq llama-3.3-70b — резерв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3.  Groq llama-3.1-8b — крайний резерв</a:t>
            </a:r>
          </a:p>
          <a:p>
            <a:pPr>
              <a:spcBef>
                <a:spcPts val="300"/>
              </a:spcBef>
            </a:pPr>
            <a:endParaRPr sz="135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Предохранитель: 5 сбоёв подряд → пауза 120 с.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Пауза по провайдеру: 2 сбоя → пропуск на 10 минут.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Плавная деградация на двух уровнях: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гибрид → выдача только по правилам при сбое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Общий секрет X-API-Key + логирование запросов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Очистка пользовательского ввода от инъекций в промпт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Выдача только на чтение + кэш рекомендаций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2C68"/>
                </a:solidFill>
                <a:latin typeface="HSE Sans"/>
              </a:rPr>
              <a:t>Оффлайн-оценка (Recall@k / nDCG@k)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920240"/>
          <a:ext cx="1115568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Recall@5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nDCG@5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2C68"/>
                </a:solidFill>
                <a:latin typeface="HSE Sans"/>
              </a:rPr>
              <a:t>Оценка LLM-судьёй (шкала 1–5)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297680"/>
          <a:ext cx="640080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Релевантность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Разнообразие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23760" y="429768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Гибрид превосходит базовое правило по Recall@5 (0,65 против 0,50) и nDCG@5 (0,38 против 0,26).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369 автотестов; оценка по воспроизводимым скриптам (seed=42).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сервер, бот и планировщик вокруг общей базы данных (PostgreSQL + pgvector).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объяснением выбора.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автоматической нормализацией и дедупликацией.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83080"/>
            <a:ext cx="5303520" cy="329184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Направления развития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• Расширение списка источников событий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• Включение коллаборативного сигнала на большем наборе данных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• Расширение пользовательских сценариев бота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• Сравнительное тестирование весов рекомендатора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• Развитие в магистерскую работу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20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286000"/>
            <a:ext cx="905256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663440"/>
            <a:ext cx="9052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«Бизнес-аналитика»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1579</Words>
  <Application>Microsoft Macintosh PowerPoint</Application>
  <PresentationFormat>Широкоэкранный</PresentationFormat>
  <Paragraphs>287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Calibri</vt:lpstr>
      <vt:lpstr>HSE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Белов Егор Александрович</cp:lastModifiedBy>
  <cp:revision>2</cp:revision>
  <dcterms:created xsi:type="dcterms:W3CDTF">2013-01-27T09:14:16Z</dcterms:created>
  <dcterms:modified xsi:type="dcterms:W3CDTF">2026-06-22T09:39:52Z</dcterms:modified>
  <cp:category/>
</cp:coreProperties>
</file>